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4" r:id="rId2"/>
    <p:sldId id="257" r:id="rId3"/>
    <p:sldId id="258" r:id="rId4"/>
    <p:sldId id="260" r:id="rId5"/>
    <p:sldId id="259" r:id="rId6"/>
    <p:sldId id="261" r:id="rId7"/>
    <p:sldId id="262" r:id="rId8"/>
    <p:sldId id="263" r:id="rId9"/>
  </p:sldIdLst>
  <p:sldSz cx="12192000" cy="76327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D7CD"/>
    <a:srgbClr val="B5A5A0"/>
    <a:srgbClr val="401D06"/>
    <a:srgbClr val="8D7E61"/>
    <a:srgbClr val="A193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6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73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249149"/>
            <a:ext cx="9144000" cy="265731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008935"/>
            <a:ext cx="9144000" cy="184280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F6634-FFC6-4101-A02E-00F5B8544E19}" type="datetimeFigureOut">
              <a:rPr lang="en-CA" smtClean="0"/>
              <a:t>2020-05-19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4DFE1-255B-44E7-9890-4AD09228181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08210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F6634-FFC6-4101-A02E-00F5B8544E19}" type="datetimeFigureOut">
              <a:rPr lang="en-CA" smtClean="0"/>
              <a:t>2020-05-19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4DFE1-255B-44E7-9890-4AD09228181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62552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902875"/>
            <a:ext cx="10515600" cy="3174991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5107903"/>
            <a:ext cx="10515600" cy="166965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F6634-FFC6-4101-A02E-00F5B8544E19}" type="datetimeFigureOut">
              <a:rPr lang="en-CA" smtClean="0"/>
              <a:t>2020-05-19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4DFE1-255B-44E7-9890-4AD09228181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4789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031853"/>
            <a:ext cx="5181600" cy="48428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031853"/>
            <a:ext cx="5181600" cy="48428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F6634-FFC6-4101-A02E-00F5B8544E19}" type="datetimeFigureOut">
              <a:rPr lang="en-CA" smtClean="0"/>
              <a:t>2020-05-19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4DFE1-255B-44E7-9890-4AD09228181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35089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06371"/>
            <a:ext cx="10515600" cy="147530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871072"/>
            <a:ext cx="5157787" cy="91698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788056"/>
            <a:ext cx="5157787" cy="41008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871072"/>
            <a:ext cx="5183188" cy="91698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788056"/>
            <a:ext cx="5183188" cy="41008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F6634-FFC6-4101-A02E-00F5B8544E19}" type="datetimeFigureOut">
              <a:rPr lang="en-CA" smtClean="0"/>
              <a:t>2020-05-19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4DFE1-255B-44E7-9890-4AD09228181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90232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F6634-FFC6-4101-A02E-00F5B8544E19}" type="datetimeFigureOut">
              <a:rPr lang="en-CA" smtClean="0"/>
              <a:t>2020-05-19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4DFE1-255B-44E7-9890-4AD09228181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67231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F6634-FFC6-4101-A02E-00F5B8544E19}" type="datetimeFigureOut">
              <a:rPr lang="en-CA" smtClean="0"/>
              <a:t>2020-05-19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4DFE1-255B-44E7-9890-4AD09228181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03064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508847"/>
            <a:ext cx="3932237" cy="178096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098968"/>
            <a:ext cx="6172200" cy="542416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289810"/>
            <a:ext cx="3932237" cy="424215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F6634-FFC6-4101-A02E-00F5B8544E19}" type="datetimeFigureOut">
              <a:rPr lang="en-CA" smtClean="0"/>
              <a:t>2020-05-19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4DFE1-255B-44E7-9890-4AD09228181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22899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508847"/>
            <a:ext cx="3932237" cy="178096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098968"/>
            <a:ext cx="6172200" cy="542416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289810"/>
            <a:ext cx="3932237" cy="424215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F6634-FFC6-4101-A02E-00F5B8544E19}" type="datetimeFigureOut">
              <a:rPr lang="en-CA" smtClean="0"/>
              <a:t>2020-05-19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4DFE1-255B-44E7-9890-4AD09228181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04579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F6634-FFC6-4101-A02E-00F5B8544E19}" type="datetimeFigureOut">
              <a:rPr lang="en-CA" smtClean="0"/>
              <a:t>2020-05-19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4DFE1-255B-44E7-9890-4AD09228181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23072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06371"/>
            <a:ext cx="2628900" cy="64683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06371"/>
            <a:ext cx="7734300" cy="64683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F6634-FFC6-4101-A02E-00F5B8544E19}" type="datetimeFigureOut">
              <a:rPr lang="en-CA" smtClean="0"/>
              <a:t>2020-05-19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4DFE1-255B-44E7-9890-4AD09228181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6099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06371"/>
            <a:ext cx="10515600" cy="14753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031853"/>
            <a:ext cx="10515600" cy="48428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7074382"/>
            <a:ext cx="2743200" cy="4063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BF6634-FFC6-4101-A02E-00F5B8544E19}" type="datetimeFigureOut">
              <a:rPr lang="en-CA" smtClean="0"/>
              <a:t>2020-05-19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7074382"/>
            <a:ext cx="4114800" cy="4063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7074382"/>
            <a:ext cx="2743200" cy="4063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24DFE1-255B-44E7-9890-4AD09228181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2364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7FC291B7-0A82-427B-8A70-A54DE2F80D5D}"/>
              </a:ext>
            </a:extLst>
          </p:cNvPr>
          <p:cNvSpPr/>
          <p:nvPr/>
        </p:nvSpPr>
        <p:spPr>
          <a:xfrm>
            <a:off x="1723659" y="636601"/>
            <a:ext cx="10274438" cy="381088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FB32B47-212B-4510-94DD-43E414F4AAD0}"/>
              </a:ext>
            </a:extLst>
          </p:cNvPr>
          <p:cNvSpPr/>
          <p:nvPr/>
        </p:nvSpPr>
        <p:spPr>
          <a:xfrm>
            <a:off x="1723659" y="1159499"/>
            <a:ext cx="10274438" cy="1976159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Content of the introduction</a:t>
            </a:r>
            <a:endParaRPr lang="en-CA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9F40DD6-8139-4F9F-8B3E-61F008AD9A96}"/>
              </a:ext>
            </a:extLst>
          </p:cNvPr>
          <p:cNvSpPr/>
          <p:nvPr/>
        </p:nvSpPr>
        <p:spPr>
          <a:xfrm>
            <a:off x="73955" y="638054"/>
            <a:ext cx="1568176" cy="63831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endParaRPr lang="en-CA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1BC9BE-36DB-43DB-BEF0-03F7A9B0976A}"/>
              </a:ext>
            </a:extLst>
          </p:cNvPr>
          <p:cNvSpPr/>
          <p:nvPr/>
        </p:nvSpPr>
        <p:spPr>
          <a:xfrm>
            <a:off x="-6134" y="1"/>
            <a:ext cx="12192000" cy="504534"/>
          </a:xfrm>
          <a:prstGeom prst="rect">
            <a:avLst/>
          </a:prstGeom>
          <a:solidFill>
            <a:srgbClr val="401D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CA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C31854-4282-440A-9D0F-A77E5939452F}"/>
              </a:ext>
            </a:extLst>
          </p:cNvPr>
          <p:cNvSpPr/>
          <p:nvPr/>
        </p:nvSpPr>
        <p:spPr>
          <a:xfrm>
            <a:off x="-12268" y="7178487"/>
            <a:ext cx="12192000" cy="454213"/>
          </a:xfrm>
          <a:prstGeom prst="rect">
            <a:avLst/>
          </a:prstGeom>
          <a:solidFill>
            <a:srgbClr val="401D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Guitar Wizard – Developed by Jeison Eccel</a:t>
            </a:r>
            <a:endParaRPr lang="en-CA" sz="1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95B148-4C58-4893-81F8-750707CA0E4B}"/>
              </a:ext>
            </a:extLst>
          </p:cNvPr>
          <p:cNvSpPr/>
          <p:nvPr/>
        </p:nvSpPr>
        <p:spPr>
          <a:xfrm>
            <a:off x="-6134" y="0"/>
            <a:ext cx="856089" cy="49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LOGO</a:t>
            </a:r>
            <a:endParaRPr lang="en-CA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A9E5F4B-3FA1-4A7E-99D3-3FCCD849CD73}"/>
              </a:ext>
            </a:extLst>
          </p:cNvPr>
          <p:cNvSpPr txBox="1"/>
          <p:nvPr/>
        </p:nvSpPr>
        <p:spPr>
          <a:xfrm>
            <a:off x="140705" y="724039"/>
            <a:ext cx="4972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Login: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966E635-6590-45A0-ABF7-D937D2A68139}"/>
              </a:ext>
            </a:extLst>
          </p:cNvPr>
          <p:cNvSpPr/>
          <p:nvPr/>
        </p:nvSpPr>
        <p:spPr>
          <a:xfrm>
            <a:off x="193903" y="957946"/>
            <a:ext cx="1303873" cy="2301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Warm-up</a:t>
            </a:r>
            <a:endParaRPr lang="en-CA" sz="10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8B62913-31DC-4996-86A2-E267C7043A97}"/>
              </a:ext>
            </a:extLst>
          </p:cNvPr>
          <p:cNvSpPr/>
          <p:nvPr/>
        </p:nvSpPr>
        <p:spPr>
          <a:xfrm>
            <a:off x="204181" y="1482017"/>
            <a:ext cx="1303873" cy="2301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#1</a:t>
            </a:r>
            <a:endParaRPr lang="en-CA" sz="1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BC57520-B56E-411E-BD76-AAA1AEF13D34}"/>
              </a:ext>
            </a:extLst>
          </p:cNvPr>
          <p:cNvSpPr txBox="1"/>
          <p:nvPr/>
        </p:nvSpPr>
        <p:spPr>
          <a:xfrm>
            <a:off x="140705" y="1251054"/>
            <a:ext cx="7152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Password: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6631ACE-958A-4E30-B124-654D6F2E92E8}"/>
              </a:ext>
            </a:extLst>
          </p:cNvPr>
          <p:cNvSpPr txBox="1"/>
          <p:nvPr/>
        </p:nvSpPr>
        <p:spPr>
          <a:xfrm>
            <a:off x="1746982" y="684605"/>
            <a:ext cx="50919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WELCOME TO STRING WIZARD!</a:t>
            </a:r>
            <a:endParaRPr lang="en-CA" sz="1200" b="1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1A21630-00D5-481F-A3E2-DF6BE3D30FB7}"/>
              </a:ext>
            </a:extLst>
          </p:cNvPr>
          <p:cNvSpPr/>
          <p:nvPr/>
        </p:nvSpPr>
        <p:spPr>
          <a:xfrm>
            <a:off x="3489649" y="0"/>
            <a:ext cx="8486351" cy="50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1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SCALES      CHORDS      CHORD PROGRESSION      ARPEGGIOS      LESSONS      </a:t>
            </a:r>
            <a:r>
              <a:rPr lang="en-US" sz="1100" b="1" dirty="0"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EXERCISES </a:t>
            </a:r>
            <a:r>
              <a:rPr lang="en-US" sz="11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    PRACTICE MANAGER      LOGIN</a:t>
            </a:r>
            <a:endParaRPr lang="en-CA" sz="1100" b="1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BF8DFD-1167-4A8A-A1BF-43D7E0995E11}"/>
              </a:ext>
            </a:extLst>
          </p:cNvPr>
          <p:cNvSpPr/>
          <p:nvPr/>
        </p:nvSpPr>
        <p:spPr>
          <a:xfrm>
            <a:off x="1746982" y="3277468"/>
            <a:ext cx="10274438" cy="371863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CA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461AD0-7229-410C-8029-94F5A41507C3}"/>
              </a:ext>
            </a:extLst>
          </p:cNvPr>
          <p:cNvSpPr/>
          <p:nvPr/>
        </p:nvSpPr>
        <p:spPr>
          <a:xfrm>
            <a:off x="7879297" y="3370429"/>
            <a:ext cx="1240328" cy="302937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200" dirty="0"/>
              <a:t>FREE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8895930-68EE-473D-97F7-586D9AA08714}"/>
              </a:ext>
            </a:extLst>
          </p:cNvPr>
          <p:cNvSpPr/>
          <p:nvPr/>
        </p:nvSpPr>
        <p:spPr>
          <a:xfrm>
            <a:off x="9224476" y="3382250"/>
            <a:ext cx="1240328" cy="302937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200" dirty="0"/>
              <a:t>BASIC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DB7ED8F-9A95-4C7A-B8E7-7705E39353A5}"/>
              </a:ext>
            </a:extLst>
          </p:cNvPr>
          <p:cNvSpPr/>
          <p:nvPr/>
        </p:nvSpPr>
        <p:spPr>
          <a:xfrm>
            <a:off x="10615448" y="3382251"/>
            <a:ext cx="1240328" cy="302937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200" dirty="0"/>
              <a:t>PREMIUM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693E27-3C95-4EAC-BA41-E192B5A55B97}"/>
              </a:ext>
            </a:extLst>
          </p:cNvPr>
          <p:cNvSpPr/>
          <p:nvPr/>
        </p:nvSpPr>
        <p:spPr>
          <a:xfrm>
            <a:off x="1826332" y="3773601"/>
            <a:ext cx="5948114" cy="3009753"/>
          </a:xfrm>
          <a:prstGeom prst="rect">
            <a:avLst/>
          </a:prstGeom>
          <a:solidFill>
            <a:srgbClr val="F8D7C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CA" sz="1200" dirty="0"/>
              <a:t>SCALES</a:t>
            </a:r>
          </a:p>
          <a:p>
            <a:pPr>
              <a:lnSpc>
                <a:spcPct val="150000"/>
              </a:lnSpc>
            </a:pPr>
            <a:r>
              <a:rPr lang="en-CA" sz="1200" dirty="0"/>
              <a:t>CHORDS</a:t>
            </a:r>
          </a:p>
          <a:p>
            <a:pPr>
              <a:lnSpc>
                <a:spcPct val="150000"/>
              </a:lnSpc>
            </a:pPr>
            <a:r>
              <a:rPr lang="en-CA" sz="1200" dirty="0"/>
              <a:t>CHORD PROGRESSION</a:t>
            </a:r>
          </a:p>
          <a:p>
            <a:pPr>
              <a:lnSpc>
                <a:spcPct val="150000"/>
              </a:lnSpc>
            </a:pPr>
            <a:r>
              <a:rPr lang="en-CA" sz="1200" dirty="0"/>
              <a:t>ARPEGGIOS</a:t>
            </a:r>
          </a:p>
          <a:p>
            <a:pPr>
              <a:lnSpc>
                <a:spcPct val="150000"/>
              </a:lnSpc>
            </a:pPr>
            <a:r>
              <a:rPr lang="en-CA" sz="1200" dirty="0"/>
              <a:t>SAVE PRESETS</a:t>
            </a:r>
          </a:p>
          <a:p>
            <a:pPr>
              <a:lnSpc>
                <a:spcPct val="150000"/>
              </a:lnSpc>
            </a:pPr>
            <a:r>
              <a:rPr lang="en-CA" sz="1200" dirty="0"/>
              <a:t>LESSONS</a:t>
            </a:r>
          </a:p>
          <a:p>
            <a:pPr>
              <a:lnSpc>
                <a:spcPct val="150000"/>
              </a:lnSpc>
            </a:pPr>
            <a:r>
              <a:rPr lang="en-CA" sz="1200" dirty="0"/>
              <a:t>EXERCISES</a:t>
            </a:r>
          </a:p>
          <a:p>
            <a:pPr>
              <a:lnSpc>
                <a:spcPct val="150000"/>
              </a:lnSpc>
            </a:pPr>
            <a:r>
              <a:rPr lang="en-CA" sz="1200" dirty="0"/>
              <a:t>PRACTICE MANAGER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0964AC2-5B93-4B55-8445-87E2F119D5B5}"/>
              </a:ext>
            </a:extLst>
          </p:cNvPr>
          <p:cNvSpPr/>
          <p:nvPr/>
        </p:nvSpPr>
        <p:spPr>
          <a:xfrm>
            <a:off x="7879297" y="3756485"/>
            <a:ext cx="1240328" cy="3009752"/>
          </a:xfrm>
          <a:prstGeom prst="rect">
            <a:avLst/>
          </a:prstGeom>
          <a:solidFill>
            <a:srgbClr val="F8D7C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en-CA" sz="1200" dirty="0"/>
              <a:t>YES</a:t>
            </a:r>
          </a:p>
          <a:p>
            <a:pPr algn="ctr">
              <a:lnSpc>
                <a:spcPct val="150000"/>
              </a:lnSpc>
            </a:pPr>
            <a:r>
              <a:rPr lang="en-CA" sz="1200" dirty="0"/>
              <a:t>YES</a:t>
            </a:r>
          </a:p>
          <a:p>
            <a:pPr algn="ctr">
              <a:lnSpc>
                <a:spcPct val="150000"/>
              </a:lnSpc>
            </a:pPr>
            <a:r>
              <a:rPr lang="en-CA" sz="1200" dirty="0"/>
              <a:t>YES</a:t>
            </a:r>
          </a:p>
          <a:p>
            <a:pPr algn="ctr">
              <a:lnSpc>
                <a:spcPct val="150000"/>
              </a:lnSpc>
            </a:pPr>
            <a:r>
              <a:rPr lang="en-CA" sz="1200" dirty="0"/>
              <a:t>YES</a:t>
            </a:r>
          </a:p>
          <a:p>
            <a:pPr algn="ctr">
              <a:lnSpc>
                <a:spcPct val="150000"/>
              </a:lnSpc>
            </a:pPr>
            <a:r>
              <a:rPr lang="en-CA" sz="1200" dirty="0"/>
              <a:t>YES</a:t>
            </a:r>
          </a:p>
          <a:p>
            <a:pPr algn="ctr">
              <a:lnSpc>
                <a:spcPct val="150000"/>
              </a:lnSpc>
            </a:pPr>
            <a:r>
              <a:rPr lang="en-CA" sz="1200" dirty="0"/>
              <a:t>-</a:t>
            </a:r>
          </a:p>
          <a:p>
            <a:pPr algn="ctr">
              <a:lnSpc>
                <a:spcPct val="150000"/>
              </a:lnSpc>
            </a:pPr>
            <a:r>
              <a:rPr lang="en-CA" sz="1200" dirty="0"/>
              <a:t>-</a:t>
            </a:r>
          </a:p>
          <a:p>
            <a:pPr algn="ctr">
              <a:lnSpc>
                <a:spcPct val="150000"/>
              </a:lnSpc>
            </a:pPr>
            <a:r>
              <a:rPr lang="en-CA" sz="1200" dirty="0"/>
              <a:t>-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5A1AC2A-14BA-4AD1-892F-C6861931F1D3}"/>
              </a:ext>
            </a:extLst>
          </p:cNvPr>
          <p:cNvSpPr/>
          <p:nvPr/>
        </p:nvSpPr>
        <p:spPr>
          <a:xfrm>
            <a:off x="9224476" y="3776011"/>
            <a:ext cx="1240328" cy="3002046"/>
          </a:xfrm>
          <a:prstGeom prst="rect">
            <a:avLst/>
          </a:prstGeom>
          <a:solidFill>
            <a:srgbClr val="F8D7C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en-CA" sz="1200" dirty="0"/>
              <a:t>YES</a:t>
            </a:r>
          </a:p>
          <a:p>
            <a:pPr algn="ctr">
              <a:lnSpc>
                <a:spcPct val="150000"/>
              </a:lnSpc>
            </a:pPr>
            <a:r>
              <a:rPr lang="en-CA" sz="1200" dirty="0"/>
              <a:t>YES</a:t>
            </a:r>
          </a:p>
          <a:p>
            <a:pPr algn="ctr">
              <a:lnSpc>
                <a:spcPct val="150000"/>
              </a:lnSpc>
            </a:pPr>
            <a:r>
              <a:rPr lang="en-CA" sz="1200" dirty="0"/>
              <a:t>YES</a:t>
            </a:r>
          </a:p>
          <a:p>
            <a:pPr algn="ctr">
              <a:lnSpc>
                <a:spcPct val="150000"/>
              </a:lnSpc>
            </a:pPr>
            <a:r>
              <a:rPr lang="en-CA" sz="1200" dirty="0"/>
              <a:t>YES</a:t>
            </a:r>
          </a:p>
          <a:p>
            <a:pPr algn="ctr">
              <a:lnSpc>
                <a:spcPct val="150000"/>
              </a:lnSpc>
            </a:pPr>
            <a:r>
              <a:rPr lang="en-CA" sz="1200" dirty="0"/>
              <a:t>YES</a:t>
            </a:r>
          </a:p>
          <a:p>
            <a:pPr algn="ctr">
              <a:lnSpc>
                <a:spcPct val="150000"/>
              </a:lnSpc>
            </a:pPr>
            <a:r>
              <a:rPr lang="en-CA" sz="1200" dirty="0"/>
              <a:t>YES</a:t>
            </a:r>
          </a:p>
          <a:p>
            <a:pPr algn="ctr">
              <a:lnSpc>
                <a:spcPct val="150000"/>
              </a:lnSpc>
            </a:pPr>
            <a:r>
              <a:rPr lang="en-CA" sz="1200" dirty="0"/>
              <a:t>YES</a:t>
            </a:r>
          </a:p>
          <a:p>
            <a:pPr algn="ctr">
              <a:lnSpc>
                <a:spcPct val="150000"/>
              </a:lnSpc>
            </a:pPr>
            <a:r>
              <a:rPr lang="en-CA" sz="1200" dirty="0"/>
              <a:t>-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4CA5AAF-EBD0-47F9-91A6-C0902EB9C88E}"/>
              </a:ext>
            </a:extLst>
          </p:cNvPr>
          <p:cNvSpPr/>
          <p:nvPr/>
        </p:nvSpPr>
        <p:spPr>
          <a:xfrm>
            <a:off x="10615448" y="3776012"/>
            <a:ext cx="1240328" cy="3002046"/>
          </a:xfrm>
          <a:prstGeom prst="rect">
            <a:avLst/>
          </a:prstGeom>
          <a:solidFill>
            <a:srgbClr val="F8D7C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en-CA" sz="1200" dirty="0"/>
              <a:t>YES</a:t>
            </a:r>
          </a:p>
          <a:p>
            <a:pPr algn="ctr">
              <a:lnSpc>
                <a:spcPct val="150000"/>
              </a:lnSpc>
            </a:pPr>
            <a:r>
              <a:rPr lang="en-CA" sz="1200" dirty="0"/>
              <a:t>YES</a:t>
            </a:r>
          </a:p>
          <a:p>
            <a:pPr algn="ctr">
              <a:lnSpc>
                <a:spcPct val="150000"/>
              </a:lnSpc>
            </a:pPr>
            <a:r>
              <a:rPr lang="en-CA" sz="1200" dirty="0"/>
              <a:t>YES</a:t>
            </a:r>
          </a:p>
          <a:p>
            <a:pPr algn="ctr">
              <a:lnSpc>
                <a:spcPct val="150000"/>
              </a:lnSpc>
            </a:pPr>
            <a:r>
              <a:rPr lang="en-CA" sz="1200" dirty="0"/>
              <a:t>YES</a:t>
            </a:r>
          </a:p>
          <a:p>
            <a:pPr algn="ctr">
              <a:lnSpc>
                <a:spcPct val="150000"/>
              </a:lnSpc>
            </a:pPr>
            <a:r>
              <a:rPr lang="en-CA" sz="1200" dirty="0"/>
              <a:t>YES</a:t>
            </a:r>
          </a:p>
          <a:p>
            <a:pPr algn="ctr">
              <a:lnSpc>
                <a:spcPct val="150000"/>
              </a:lnSpc>
            </a:pPr>
            <a:r>
              <a:rPr lang="en-CA" sz="1200" dirty="0"/>
              <a:t>YES</a:t>
            </a:r>
          </a:p>
          <a:p>
            <a:pPr algn="ctr">
              <a:lnSpc>
                <a:spcPct val="150000"/>
              </a:lnSpc>
            </a:pPr>
            <a:r>
              <a:rPr lang="en-CA" sz="1200" dirty="0"/>
              <a:t>YES</a:t>
            </a:r>
          </a:p>
          <a:p>
            <a:pPr algn="ctr">
              <a:lnSpc>
                <a:spcPct val="150000"/>
              </a:lnSpc>
            </a:pPr>
            <a:r>
              <a:rPr lang="en-CA" sz="1200" dirty="0"/>
              <a:t>YES</a:t>
            </a:r>
          </a:p>
        </p:txBody>
      </p:sp>
    </p:spTree>
    <p:extLst>
      <p:ext uri="{BB962C8B-B14F-4D97-AF65-F5344CB8AC3E}">
        <p14:creationId xmlns:p14="http://schemas.microsoft.com/office/powerpoint/2010/main" val="4040445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7FC291B7-0A82-427B-8A70-A54DE2F80D5D}"/>
              </a:ext>
            </a:extLst>
          </p:cNvPr>
          <p:cNvSpPr/>
          <p:nvPr/>
        </p:nvSpPr>
        <p:spPr>
          <a:xfrm>
            <a:off x="1723659" y="636601"/>
            <a:ext cx="10274438" cy="381088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FB32B47-212B-4510-94DD-43E414F4AAD0}"/>
              </a:ext>
            </a:extLst>
          </p:cNvPr>
          <p:cNvSpPr/>
          <p:nvPr/>
        </p:nvSpPr>
        <p:spPr>
          <a:xfrm>
            <a:off x="1723659" y="1159499"/>
            <a:ext cx="10274438" cy="1976159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D9566BA-A384-4C00-A45D-34323E5D6483}"/>
              </a:ext>
            </a:extLst>
          </p:cNvPr>
          <p:cNvSpPr/>
          <p:nvPr/>
        </p:nvSpPr>
        <p:spPr>
          <a:xfrm>
            <a:off x="1733029" y="4449827"/>
            <a:ext cx="10274438" cy="2571426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04AE615-670F-4311-9EE2-05E7F0A8DB7E}"/>
              </a:ext>
            </a:extLst>
          </p:cNvPr>
          <p:cNvSpPr/>
          <p:nvPr/>
        </p:nvSpPr>
        <p:spPr>
          <a:xfrm>
            <a:off x="1733029" y="3292892"/>
            <a:ext cx="10274438" cy="1017252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9F40DD6-8139-4F9F-8B3E-61F008AD9A96}"/>
              </a:ext>
            </a:extLst>
          </p:cNvPr>
          <p:cNvSpPr/>
          <p:nvPr/>
        </p:nvSpPr>
        <p:spPr>
          <a:xfrm>
            <a:off x="73955" y="638054"/>
            <a:ext cx="1568176" cy="63831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endParaRPr lang="en-CA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1BC9BE-36DB-43DB-BEF0-03F7A9B0976A}"/>
              </a:ext>
            </a:extLst>
          </p:cNvPr>
          <p:cNvSpPr/>
          <p:nvPr/>
        </p:nvSpPr>
        <p:spPr>
          <a:xfrm>
            <a:off x="-6134" y="1"/>
            <a:ext cx="12192000" cy="504534"/>
          </a:xfrm>
          <a:prstGeom prst="rect">
            <a:avLst/>
          </a:prstGeom>
          <a:solidFill>
            <a:srgbClr val="401D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                 SCALAS</a:t>
            </a:r>
            <a:endParaRPr lang="en-CA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C31854-4282-440A-9D0F-A77E5939452F}"/>
              </a:ext>
            </a:extLst>
          </p:cNvPr>
          <p:cNvSpPr/>
          <p:nvPr/>
        </p:nvSpPr>
        <p:spPr>
          <a:xfrm>
            <a:off x="-12268" y="7178487"/>
            <a:ext cx="12192000" cy="454213"/>
          </a:xfrm>
          <a:prstGeom prst="rect">
            <a:avLst/>
          </a:prstGeom>
          <a:solidFill>
            <a:srgbClr val="401D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Guitar Wizard – Developed by Jeison Eccel</a:t>
            </a:r>
            <a:endParaRPr lang="en-CA" sz="1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E751D5-29AD-4A29-91C6-C5AE32AEB7BF}"/>
              </a:ext>
            </a:extLst>
          </p:cNvPr>
          <p:cNvSpPr/>
          <p:nvPr/>
        </p:nvSpPr>
        <p:spPr>
          <a:xfrm>
            <a:off x="2392689" y="1503479"/>
            <a:ext cx="9446070" cy="1416205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361A93-0F5F-41AB-9D37-074745EBB00B}"/>
              </a:ext>
            </a:extLst>
          </p:cNvPr>
          <p:cNvSpPr/>
          <p:nvPr/>
        </p:nvSpPr>
        <p:spPr>
          <a:xfrm>
            <a:off x="1820033" y="1503479"/>
            <a:ext cx="413327" cy="17267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E</a:t>
            </a:r>
            <a:endParaRPr lang="en-CA" sz="10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B1442C-59CD-49F1-9EAF-2C791DFB775A}"/>
              </a:ext>
            </a:extLst>
          </p:cNvPr>
          <p:cNvSpPr/>
          <p:nvPr/>
        </p:nvSpPr>
        <p:spPr>
          <a:xfrm>
            <a:off x="1820031" y="1748015"/>
            <a:ext cx="413327" cy="17267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B</a:t>
            </a:r>
            <a:endParaRPr lang="en-CA" sz="10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43C745-1C8A-47A8-BEAB-E1CBF4E0F476}"/>
              </a:ext>
            </a:extLst>
          </p:cNvPr>
          <p:cNvSpPr/>
          <p:nvPr/>
        </p:nvSpPr>
        <p:spPr>
          <a:xfrm>
            <a:off x="1820030" y="1992381"/>
            <a:ext cx="413327" cy="17267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G</a:t>
            </a:r>
            <a:endParaRPr lang="en-CA" sz="10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BE4819-D729-4FA8-8423-297E6A007059}"/>
              </a:ext>
            </a:extLst>
          </p:cNvPr>
          <p:cNvSpPr/>
          <p:nvPr/>
        </p:nvSpPr>
        <p:spPr>
          <a:xfrm>
            <a:off x="1820030" y="2237172"/>
            <a:ext cx="413327" cy="17267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</a:t>
            </a:r>
            <a:endParaRPr lang="en-CA" sz="10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08620B-BBED-4C53-9B90-452AE9E16707}"/>
              </a:ext>
            </a:extLst>
          </p:cNvPr>
          <p:cNvSpPr/>
          <p:nvPr/>
        </p:nvSpPr>
        <p:spPr>
          <a:xfrm>
            <a:off x="1820030" y="2480785"/>
            <a:ext cx="413327" cy="17267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</a:t>
            </a:r>
            <a:endParaRPr lang="en-CA" sz="10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599F543-F820-4FFE-99DD-262CE35F1100}"/>
              </a:ext>
            </a:extLst>
          </p:cNvPr>
          <p:cNvSpPr/>
          <p:nvPr/>
        </p:nvSpPr>
        <p:spPr>
          <a:xfrm>
            <a:off x="1820029" y="2733634"/>
            <a:ext cx="413327" cy="17267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E</a:t>
            </a:r>
            <a:endParaRPr lang="en-CA" sz="100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95B148-4C58-4893-81F8-750707CA0E4B}"/>
              </a:ext>
            </a:extLst>
          </p:cNvPr>
          <p:cNvSpPr/>
          <p:nvPr/>
        </p:nvSpPr>
        <p:spPr>
          <a:xfrm>
            <a:off x="-6134" y="0"/>
            <a:ext cx="856089" cy="49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LOGO</a:t>
            </a:r>
            <a:endParaRPr lang="en-CA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F866865-DC9F-4D6F-A610-C791D77E924D}"/>
              </a:ext>
            </a:extLst>
          </p:cNvPr>
          <p:cNvSpPr/>
          <p:nvPr/>
        </p:nvSpPr>
        <p:spPr>
          <a:xfrm>
            <a:off x="2867345" y="2202972"/>
            <a:ext cx="241077" cy="241077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E</a:t>
            </a:r>
            <a:endParaRPr lang="en-CA" sz="100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CC0F76A-EB54-4D86-9966-34E7C2D16B7F}"/>
              </a:ext>
            </a:extLst>
          </p:cNvPr>
          <p:cNvSpPr/>
          <p:nvPr/>
        </p:nvSpPr>
        <p:spPr>
          <a:xfrm>
            <a:off x="3189950" y="2412386"/>
            <a:ext cx="241077" cy="241077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</a:t>
            </a:r>
            <a:endParaRPr lang="en-CA" sz="100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E7B03DD-41A1-4402-941B-7893DD7AED00}"/>
              </a:ext>
            </a:extLst>
          </p:cNvPr>
          <p:cNvSpPr/>
          <p:nvPr/>
        </p:nvSpPr>
        <p:spPr>
          <a:xfrm>
            <a:off x="2485060" y="1738182"/>
            <a:ext cx="241077" cy="241077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</a:t>
            </a:r>
            <a:endParaRPr lang="en-CA" sz="1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A9E5F4B-3FA1-4A7E-99D3-3FCCD849CD73}"/>
              </a:ext>
            </a:extLst>
          </p:cNvPr>
          <p:cNvSpPr txBox="1"/>
          <p:nvPr/>
        </p:nvSpPr>
        <p:spPr>
          <a:xfrm>
            <a:off x="140705" y="724039"/>
            <a:ext cx="6655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# Strings: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966E635-6590-45A0-ABF7-D937D2A68139}"/>
              </a:ext>
            </a:extLst>
          </p:cNvPr>
          <p:cNvSpPr/>
          <p:nvPr/>
        </p:nvSpPr>
        <p:spPr>
          <a:xfrm>
            <a:off x="193903" y="957946"/>
            <a:ext cx="1303873" cy="2301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6 strings</a:t>
            </a:r>
            <a:endParaRPr lang="en-CA" sz="10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8B62913-31DC-4996-86A2-E267C7043A97}"/>
              </a:ext>
            </a:extLst>
          </p:cNvPr>
          <p:cNvSpPr/>
          <p:nvPr/>
        </p:nvSpPr>
        <p:spPr>
          <a:xfrm>
            <a:off x="204181" y="1482017"/>
            <a:ext cx="1303873" cy="2301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C</a:t>
            </a:r>
            <a:endParaRPr lang="en-CA" sz="10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5AAA5CD-F3F9-4E34-BF7A-FC112E202803}"/>
              </a:ext>
            </a:extLst>
          </p:cNvPr>
          <p:cNvSpPr/>
          <p:nvPr/>
        </p:nvSpPr>
        <p:spPr>
          <a:xfrm>
            <a:off x="193903" y="2026316"/>
            <a:ext cx="1303873" cy="2301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Major</a:t>
            </a:r>
            <a:endParaRPr lang="en-CA" sz="10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A1E8763-CB06-4D3B-82D2-572CEAC451BD}"/>
              </a:ext>
            </a:extLst>
          </p:cNvPr>
          <p:cNvSpPr/>
          <p:nvPr/>
        </p:nvSpPr>
        <p:spPr>
          <a:xfrm>
            <a:off x="182026" y="2612291"/>
            <a:ext cx="1303873" cy="2301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3 notes per String</a:t>
            </a:r>
            <a:endParaRPr lang="en-CA" sz="1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BC57520-B56E-411E-BD76-AAA1AEF13D34}"/>
              </a:ext>
            </a:extLst>
          </p:cNvPr>
          <p:cNvSpPr txBox="1"/>
          <p:nvPr/>
        </p:nvSpPr>
        <p:spPr>
          <a:xfrm>
            <a:off x="140705" y="1251054"/>
            <a:ext cx="7521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Root Note: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A18202F-DD35-4F60-8942-0A6BE1551CB9}"/>
              </a:ext>
            </a:extLst>
          </p:cNvPr>
          <p:cNvSpPr txBox="1"/>
          <p:nvPr/>
        </p:nvSpPr>
        <p:spPr>
          <a:xfrm>
            <a:off x="112055" y="1783259"/>
            <a:ext cx="4860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Scale: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6757C92-B885-460C-8556-971999B62C74}"/>
              </a:ext>
            </a:extLst>
          </p:cNvPr>
          <p:cNvSpPr txBox="1"/>
          <p:nvPr/>
        </p:nvSpPr>
        <p:spPr>
          <a:xfrm>
            <a:off x="112055" y="2343697"/>
            <a:ext cx="60785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Pattern:</a:t>
            </a:r>
          </a:p>
        </p:txBody>
      </p:sp>
      <p:graphicFrame>
        <p:nvGraphicFramePr>
          <p:cNvPr id="36" name="Table 36">
            <a:extLst>
              <a:ext uri="{FF2B5EF4-FFF2-40B4-BE49-F238E27FC236}">
                <a16:creationId xmlns:a16="http://schemas.microsoft.com/office/drawing/2014/main" id="{0C40345E-7218-4AEB-A15D-F7F381C18B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6156468"/>
              </p:ext>
            </p:extLst>
          </p:nvPr>
        </p:nvGraphicFramePr>
        <p:xfrm>
          <a:off x="1823928" y="3622319"/>
          <a:ext cx="10024200" cy="487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13800">
                  <a:extLst>
                    <a:ext uri="{9D8B030D-6E8A-4147-A177-3AD203B41FA5}">
                      <a16:colId xmlns:a16="http://schemas.microsoft.com/office/drawing/2014/main" val="382604860"/>
                    </a:ext>
                  </a:extLst>
                </a:gridCol>
                <a:gridCol w="1113800">
                  <a:extLst>
                    <a:ext uri="{9D8B030D-6E8A-4147-A177-3AD203B41FA5}">
                      <a16:colId xmlns:a16="http://schemas.microsoft.com/office/drawing/2014/main" val="3903095731"/>
                    </a:ext>
                  </a:extLst>
                </a:gridCol>
                <a:gridCol w="1113800">
                  <a:extLst>
                    <a:ext uri="{9D8B030D-6E8A-4147-A177-3AD203B41FA5}">
                      <a16:colId xmlns:a16="http://schemas.microsoft.com/office/drawing/2014/main" val="2710649396"/>
                    </a:ext>
                  </a:extLst>
                </a:gridCol>
                <a:gridCol w="1113800">
                  <a:extLst>
                    <a:ext uri="{9D8B030D-6E8A-4147-A177-3AD203B41FA5}">
                      <a16:colId xmlns:a16="http://schemas.microsoft.com/office/drawing/2014/main" val="2337847444"/>
                    </a:ext>
                  </a:extLst>
                </a:gridCol>
                <a:gridCol w="1113800">
                  <a:extLst>
                    <a:ext uri="{9D8B030D-6E8A-4147-A177-3AD203B41FA5}">
                      <a16:colId xmlns:a16="http://schemas.microsoft.com/office/drawing/2014/main" val="2013261313"/>
                    </a:ext>
                  </a:extLst>
                </a:gridCol>
                <a:gridCol w="1113800">
                  <a:extLst>
                    <a:ext uri="{9D8B030D-6E8A-4147-A177-3AD203B41FA5}">
                      <a16:colId xmlns:a16="http://schemas.microsoft.com/office/drawing/2014/main" val="3645223381"/>
                    </a:ext>
                  </a:extLst>
                </a:gridCol>
                <a:gridCol w="1113800">
                  <a:extLst>
                    <a:ext uri="{9D8B030D-6E8A-4147-A177-3AD203B41FA5}">
                      <a16:colId xmlns:a16="http://schemas.microsoft.com/office/drawing/2014/main" val="2824009681"/>
                    </a:ext>
                  </a:extLst>
                </a:gridCol>
                <a:gridCol w="1113800">
                  <a:extLst>
                    <a:ext uri="{9D8B030D-6E8A-4147-A177-3AD203B41FA5}">
                      <a16:colId xmlns:a16="http://schemas.microsoft.com/office/drawing/2014/main" val="2544674589"/>
                    </a:ext>
                  </a:extLst>
                </a:gridCol>
                <a:gridCol w="1113800">
                  <a:extLst>
                    <a:ext uri="{9D8B030D-6E8A-4147-A177-3AD203B41FA5}">
                      <a16:colId xmlns:a16="http://schemas.microsoft.com/office/drawing/2014/main" val="3169980525"/>
                    </a:ext>
                  </a:extLst>
                </a:gridCol>
              </a:tblGrid>
              <a:tr h="237785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INTERVAL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R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2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3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4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5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6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7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8</a:t>
                      </a:r>
                      <a:endParaRPr lang="en-CA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2517296"/>
                  </a:ext>
                </a:extLst>
              </a:tr>
              <a:tr h="237785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NOTE</a:t>
                      </a:r>
                      <a:endParaRPr lang="en-CA" sz="1000" dirty="0"/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C</a:t>
                      </a:r>
                      <a:endParaRPr lang="en-CA" sz="1000" dirty="0"/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D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E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F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G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A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B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C</a:t>
                      </a:r>
                      <a:endParaRPr lang="en-CA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5699086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E6631ACE-958A-4E30-B124-654D6F2E92E8}"/>
              </a:ext>
            </a:extLst>
          </p:cNvPr>
          <p:cNvSpPr txBox="1"/>
          <p:nvPr/>
        </p:nvSpPr>
        <p:spPr>
          <a:xfrm>
            <a:off x="1746983" y="684605"/>
            <a:ext cx="7734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C MAJOR</a:t>
            </a:r>
            <a:endParaRPr lang="en-CA" sz="1200" b="1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6E70BCD-95C2-43A4-A418-65E5A6A54093}"/>
              </a:ext>
            </a:extLst>
          </p:cNvPr>
          <p:cNvSpPr/>
          <p:nvPr/>
        </p:nvSpPr>
        <p:spPr>
          <a:xfrm>
            <a:off x="193902" y="3151131"/>
            <a:ext cx="1303873" cy="2301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E2</a:t>
            </a:r>
            <a:endParaRPr lang="en-CA" sz="10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B514F1-9CDB-412F-8667-4124426139AC}"/>
              </a:ext>
            </a:extLst>
          </p:cNvPr>
          <p:cNvSpPr txBox="1"/>
          <p:nvPr/>
        </p:nvSpPr>
        <p:spPr>
          <a:xfrm>
            <a:off x="115953" y="2897760"/>
            <a:ext cx="5950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Start in: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46D03A1-8B50-4D97-AE5E-D0B8EEF2A219}"/>
              </a:ext>
            </a:extLst>
          </p:cNvPr>
          <p:cNvSpPr/>
          <p:nvPr/>
        </p:nvSpPr>
        <p:spPr>
          <a:xfrm>
            <a:off x="1829399" y="4855882"/>
            <a:ext cx="10018729" cy="1954948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Ascending: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Descending: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endParaRPr lang="en-CA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0088B06-704A-471E-B872-36D592698D52}"/>
              </a:ext>
            </a:extLst>
          </p:cNvPr>
          <p:cNvSpPr txBox="1"/>
          <p:nvPr/>
        </p:nvSpPr>
        <p:spPr>
          <a:xfrm>
            <a:off x="1823927" y="4536353"/>
            <a:ext cx="4090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Tab:</a:t>
            </a:r>
            <a:endParaRPr lang="en-CA" sz="10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C7DA093-52A6-4E0E-847D-FF66ED1F9F89}"/>
              </a:ext>
            </a:extLst>
          </p:cNvPr>
          <p:cNvSpPr txBox="1"/>
          <p:nvPr/>
        </p:nvSpPr>
        <p:spPr>
          <a:xfrm>
            <a:off x="1823927" y="3338159"/>
            <a:ext cx="4860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Scale:</a:t>
            </a:r>
            <a:endParaRPr lang="en-CA" sz="10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9E8731E-ABC3-4399-B56B-B462A5A01855}"/>
              </a:ext>
            </a:extLst>
          </p:cNvPr>
          <p:cNvSpPr txBox="1"/>
          <p:nvPr/>
        </p:nvSpPr>
        <p:spPr>
          <a:xfrm>
            <a:off x="1746983" y="1213668"/>
            <a:ext cx="5725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Tuning:</a:t>
            </a:r>
            <a:endParaRPr lang="en-CA" sz="1000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673E3A5D-EBDE-47C4-B93D-A0808480D206}"/>
              </a:ext>
            </a:extLst>
          </p:cNvPr>
          <p:cNvSpPr/>
          <p:nvPr/>
        </p:nvSpPr>
        <p:spPr>
          <a:xfrm>
            <a:off x="2485060" y="2699434"/>
            <a:ext cx="241077" cy="241077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F</a:t>
            </a:r>
            <a:endParaRPr lang="en-CA" sz="1000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AB4EF0D6-6FA6-45EA-9496-6EBCF6F1C466}"/>
              </a:ext>
            </a:extLst>
          </p:cNvPr>
          <p:cNvSpPr/>
          <p:nvPr/>
        </p:nvSpPr>
        <p:spPr>
          <a:xfrm>
            <a:off x="3189949" y="2711914"/>
            <a:ext cx="241077" cy="241077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G</a:t>
            </a:r>
            <a:endParaRPr lang="en-CA" sz="1000" dirty="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34CFA975-F41D-462D-88F3-D9BD6E4B63F0}"/>
              </a:ext>
            </a:extLst>
          </p:cNvPr>
          <p:cNvSpPr/>
          <p:nvPr/>
        </p:nvSpPr>
        <p:spPr>
          <a:xfrm>
            <a:off x="2859413" y="2449264"/>
            <a:ext cx="241077" cy="241077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B</a:t>
            </a:r>
            <a:endParaRPr lang="en-CA" sz="1000" dirty="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F3E3640D-5511-4952-9924-EFEA3EA940DB}"/>
              </a:ext>
            </a:extLst>
          </p:cNvPr>
          <p:cNvSpPr/>
          <p:nvPr/>
        </p:nvSpPr>
        <p:spPr>
          <a:xfrm>
            <a:off x="3189948" y="2176294"/>
            <a:ext cx="241077" cy="241077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F</a:t>
            </a:r>
            <a:endParaRPr lang="en-CA" sz="1000" dirty="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0C883574-3F53-4119-8D3B-EFC4B6EBF1B6}"/>
              </a:ext>
            </a:extLst>
          </p:cNvPr>
          <p:cNvSpPr/>
          <p:nvPr/>
        </p:nvSpPr>
        <p:spPr>
          <a:xfrm>
            <a:off x="3189948" y="1454458"/>
            <a:ext cx="241077" cy="241077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G</a:t>
            </a:r>
            <a:endParaRPr lang="en-CA" sz="1000" dirty="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558817DF-4522-4B2E-9B3A-1700D937DC37}"/>
              </a:ext>
            </a:extLst>
          </p:cNvPr>
          <p:cNvSpPr/>
          <p:nvPr/>
        </p:nvSpPr>
        <p:spPr>
          <a:xfrm>
            <a:off x="2485060" y="1461748"/>
            <a:ext cx="241077" cy="241077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F</a:t>
            </a:r>
            <a:endParaRPr lang="en-CA" sz="1000" dirty="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8E8309C9-D5E1-4BE2-B2DD-CDAA936FCE00}"/>
              </a:ext>
            </a:extLst>
          </p:cNvPr>
          <p:cNvSpPr/>
          <p:nvPr/>
        </p:nvSpPr>
        <p:spPr>
          <a:xfrm>
            <a:off x="2867345" y="1937384"/>
            <a:ext cx="241077" cy="241077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A</a:t>
            </a:r>
            <a:endParaRPr lang="en-CA" sz="1000" dirty="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6694ABEA-D645-4C11-B7F7-85EA9BEA41DF}"/>
              </a:ext>
            </a:extLst>
          </p:cNvPr>
          <p:cNvSpPr/>
          <p:nvPr/>
        </p:nvSpPr>
        <p:spPr>
          <a:xfrm>
            <a:off x="3530121" y="1923982"/>
            <a:ext cx="241077" cy="241077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B</a:t>
            </a:r>
            <a:endParaRPr lang="en-CA" sz="1000" dirty="0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028488F2-977A-4E5C-8963-CEEF1C71FF60}"/>
              </a:ext>
            </a:extLst>
          </p:cNvPr>
          <p:cNvSpPr/>
          <p:nvPr/>
        </p:nvSpPr>
        <p:spPr>
          <a:xfrm>
            <a:off x="3191627" y="1735072"/>
            <a:ext cx="241077" cy="241077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</a:t>
            </a:r>
            <a:endParaRPr lang="en-CA" sz="1000" dirty="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236F8D74-BB43-40E9-8957-221EEA82FF5D}"/>
              </a:ext>
            </a:extLst>
          </p:cNvPr>
          <p:cNvSpPr/>
          <p:nvPr/>
        </p:nvSpPr>
        <p:spPr>
          <a:xfrm>
            <a:off x="3877465" y="1697849"/>
            <a:ext cx="241077" cy="241077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E</a:t>
            </a:r>
            <a:endParaRPr lang="en-CA" sz="1000" dirty="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10108CDB-25E6-4EAA-AB21-BB9C5D02D71C}"/>
              </a:ext>
            </a:extLst>
          </p:cNvPr>
          <p:cNvSpPr/>
          <p:nvPr/>
        </p:nvSpPr>
        <p:spPr>
          <a:xfrm>
            <a:off x="3867574" y="1454457"/>
            <a:ext cx="241077" cy="241077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A</a:t>
            </a:r>
            <a:endParaRPr lang="en-CA" sz="1000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FC0C18BF-DFA8-47D6-9BD7-AFE2F8E6206A}"/>
              </a:ext>
            </a:extLst>
          </p:cNvPr>
          <p:cNvSpPr/>
          <p:nvPr/>
        </p:nvSpPr>
        <p:spPr>
          <a:xfrm>
            <a:off x="5476875" y="0"/>
            <a:ext cx="6499125" cy="50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100" b="1" dirty="0"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SCALES</a:t>
            </a:r>
            <a:r>
              <a:rPr lang="en-US" sz="11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     CHORDS      CHORD PROGRESSION      ARPEGGIOS      LESSONS      EXERCISES      LOGIN</a:t>
            </a:r>
            <a:endParaRPr lang="en-CA" sz="1100" b="1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58516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7FC291B7-0A82-427B-8A70-A54DE2F80D5D}"/>
              </a:ext>
            </a:extLst>
          </p:cNvPr>
          <p:cNvSpPr/>
          <p:nvPr/>
        </p:nvSpPr>
        <p:spPr>
          <a:xfrm>
            <a:off x="1723659" y="636601"/>
            <a:ext cx="10274438" cy="381088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FB32B47-212B-4510-94DD-43E414F4AAD0}"/>
              </a:ext>
            </a:extLst>
          </p:cNvPr>
          <p:cNvSpPr/>
          <p:nvPr/>
        </p:nvSpPr>
        <p:spPr>
          <a:xfrm>
            <a:off x="1723659" y="1159499"/>
            <a:ext cx="10274438" cy="1976159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D9566BA-A384-4C00-A45D-34323E5D6483}"/>
              </a:ext>
            </a:extLst>
          </p:cNvPr>
          <p:cNvSpPr/>
          <p:nvPr/>
        </p:nvSpPr>
        <p:spPr>
          <a:xfrm>
            <a:off x="1733029" y="4449827"/>
            <a:ext cx="10274438" cy="2571426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04AE615-670F-4311-9EE2-05E7F0A8DB7E}"/>
              </a:ext>
            </a:extLst>
          </p:cNvPr>
          <p:cNvSpPr/>
          <p:nvPr/>
        </p:nvSpPr>
        <p:spPr>
          <a:xfrm>
            <a:off x="1733029" y="3292892"/>
            <a:ext cx="10274438" cy="1017252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9F40DD6-8139-4F9F-8B3E-61F008AD9A96}"/>
              </a:ext>
            </a:extLst>
          </p:cNvPr>
          <p:cNvSpPr/>
          <p:nvPr/>
        </p:nvSpPr>
        <p:spPr>
          <a:xfrm>
            <a:off x="73955" y="638054"/>
            <a:ext cx="1568176" cy="63831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endParaRPr lang="en-CA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1BC9BE-36DB-43DB-BEF0-03F7A9B0976A}"/>
              </a:ext>
            </a:extLst>
          </p:cNvPr>
          <p:cNvSpPr/>
          <p:nvPr/>
        </p:nvSpPr>
        <p:spPr>
          <a:xfrm>
            <a:off x="-6134" y="1"/>
            <a:ext cx="12192000" cy="504534"/>
          </a:xfrm>
          <a:prstGeom prst="rect">
            <a:avLst/>
          </a:prstGeom>
          <a:solidFill>
            <a:srgbClr val="401D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                 CHORDS</a:t>
            </a:r>
            <a:endParaRPr lang="en-CA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C31854-4282-440A-9D0F-A77E5939452F}"/>
              </a:ext>
            </a:extLst>
          </p:cNvPr>
          <p:cNvSpPr/>
          <p:nvPr/>
        </p:nvSpPr>
        <p:spPr>
          <a:xfrm>
            <a:off x="-12268" y="7178487"/>
            <a:ext cx="12192000" cy="454213"/>
          </a:xfrm>
          <a:prstGeom prst="rect">
            <a:avLst/>
          </a:prstGeom>
          <a:solidFill>
            <a:srgbClr val="401D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Guitar Wizard – Developed by Jeison Eccel</a:t>
            </a:r>
            <a:endParaRPr lang="en-CA" sz="1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E751D5-29AD-4A29-91C6-C5AE32AEB7BF}"/>
              </a:ext>
            </a:extLst>
          </p:cNvPr>
          <p:cNvSpPr/>
          <p:nvPr/>
        </p:nvSpPr>
        <p:spPr>
          <a:xfrm>
            <a:off x="2392689" y="1503479"/>
            <a:ext cx="9446070" cy="1416205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361A93-0F5F-41AB-9D37-074745EBB00B}"/>
              </a:ext>
            </a:extLst>
          </p:cNvPr>
          <p:cNvSpPr/>
          <p:nvPr/>
        </p:nvSpPr>
        <p:spPr>
          <a:xfrm>
            <a:off x="1820033" y="1503479"/>
            <a:ext cx="413327" cy="17267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E</a:t>
            </a:r>
            <a:endParaRPr lang="en-CA" sz="10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B1442C-59CD-49F1-9EAF-2C791DFB775A}"/>
              </a:ext>
            </a:extLst>
          </p:cNvPr>
          <p:cNvSpPr/>
          <p:nvPr/>
        </p:nvSpPr>
        <p:spPr>
          <a:xfrm>
            <a:off x="1820031" y="1748015"/>
            <a:ext cx="413327" cy="17267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B</a:t>
            </a:r>
            <a:endParaRPr lang="en-CA" sz="10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43C745-1C8A-47A8-BEAB-E1CBF4E0F476}"/>
              </a:ext>
            </a:extLst>
          </p:cNvPr>
          <p:cNvSpPr/>
          <p:nvPr/>
        </p:nvSpPr>
        <p:spPr>
          <a:xfrm>
            <a:off x="1820030" y="1992381"/>
            <a:ext cx="413327" cy="17267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G</a:t>
            </a:r>
            <a:endParaRPr lang="en-CA" sz="10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BE4819-D729-4FA8-8423-297E6A007059}"/>
              </a:ext>
            </a:extLst>
          </p:cNvPr>
          <p:cNvSpPr/>
          <p:nvPr/>
        </p:nvSpPr>
        <p:spPr>
          <a:xfrm>
            <a:off x="1820030" y="2237172"/>
            <a:ext cx="413327" cy="17267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</a:t>
            </a:r>
            <a:endParaRPr lang="en-CA" sz="10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08620B-BBED-4C53-9B90-452AE9E16707}"/>
              </a:ext>
            </a:extLst>
          </p:cNvPr>
          <p:cNvSpPr/>
          <p:nvPr/>
        </p:nvSpPr>
        <p:spPr>
          <a:xfrm>
            <a:off x="1820030" y="2480785"/>
            <a:ext cx="413327" cy="17267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</a:t>
            </a:r>
            <a:endParaRPr lang="en-CA" sz="10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599F543-F820-4FFE-99DD-262CE35F1100}"/>
              </a:ext>
            </a:extLst>
          </p:cNvPr>
          <p:cNvSpPr/>
          <p:nvPr/>
        </p:nvSpPr>
        <p:spPr>
          <a:xfrm>
            <a:off x="1820029" y="2733634"/>
            <a:ext cx="413327" cy="17267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E</a:t>
            </a:r>
            <a:endParaRPr lang="en-CA" sz="100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95B148-4C58-4893-81F8-750707CA0E4B}"/>
              </a:ext>
            </a:extLst>
          </p:cNvPr>
          <p:cNvSpPr/>
          <p:nvPr/>
        </p:nvSpPr>
        <p:spPr>
          <a:xfrm>
            <a:off x="-6134" y="0"/>
            <a:ext cx="856089" cy="49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LOGO</a:t>
            </a:r>
            <a:endParaRPr lang="en-CA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F866865-DC9F-4D6F-A610-C791D77E924D}"/>
              </a:ext>
            </a:extLst>
          </p:cNvPr>
          <p:cNvSpPr/>
          <p:nvPr/>
        </p:nvSpPr>
        <p:spPr>
          <a:xfrm>
            <a:off x="2867345" y="2202972"/>
            <a:ext cx="241077" cy="241077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E</a:t>
            </a:r>
            <a:endParaRPr lang="en-CA" sz="100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CC0F76A-EB54-4D86-9966-34E7C2D16B7F}"/>
              </a:ext>
            </a:extLst>
          </p:cNvPr>
          <p:cNvSpPr/>
          <p:nvPr/>
        </p:nvSpPr>
        <p:spPr>
          <a:xfrm>
            <a:off x="3189950" y="2412386"/>
            <a:ext cx="241077" cy="241077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</a:t>
            </a:r>
            <a:endParaRPr lang="en-CA" sz="1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A9E5F4B-3FA1-4A7E-99D3-3FCCD849CD73}"/>
              </a:ext>
            </a:extLst>
          </p:cNvPr>
          <p:cNvSpPr txBox="1"/>
          <p:nvPr/>
        </p:nvSpPr>
        <p:spPr>
          <a:xfrm>
            <a:off x="140705" y="724039"/>
            <a:ext cx="6655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# Strings: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966E635-6590-45A0-ABF7-D937D2A68139}"/>
              </a:ext>
            </a:extLst>
          </p:cNvPr>
          <p:cNvSpPr/>
          <p:nvPr/>
        </p:nvSpPr>
        <p:spPr>
          <a:xfrm>
            <a:off x="193903" y="957946"/>
            <a:ext cx="1303873" cy="2301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6 strings</a:t>
            </a:r>
            <a:endParaRPr lang="en-CA" sz="10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8B62913-31DC-4996-86A2-E267C7043A97}"/>
              </a:ext>
            </a:extLst>
          </p:cNvPr>
          <p:cNvSpPr/>
          <p:nvPr/>
        </p:nvSpPr>
        <p:spPr>
          <a:xfrm>
            <a:off x="204181" y="1482017"/>
            <a:ext cx="1303873" cy="2301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C</a:t>
            </a:r>
            <a:endParaRPr lang="en-CA" sz="10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5AAA5CD-F3F9-4E34-BF7A-FC112E202803}"/>
              </a:ext>
            </a:extLst>
          </p:cNvPr>
          <p:cNvSpPr/>
          <p:nvPr/>
        </p:nvSpPr>
        <p:spPr>
          <a:xfrm>
            <a:off x="193903" y="2026316"/>
            <a:ext cx="1303873" cy="2301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Major</a:t>
            </a:r>
            <a:endParaRPr lang="en-CA" sz="10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A1E8763-CB06-4D3B-82D2-572CEAC451BD}"/>
              </a:ext>
            </a:extLst>
          </p:cNvPr>
          <p:cNvSpPr/>
          <p:nvPr/>
        </p:nvSpPr>
        <p:spPr>
          <a:xfrm>
            <a:off x="182026" y="2612291"/>
            <a:ext cx="1303873" cy="2301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7+</a:t>
            </a:r>
            <a:endParaRPr lang="en-CA" sz="1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BC57520-B56E-411E-BD76-AAA1AEF13D34}"/>
              </a:ext>
            </a:extLst>
          </p:cNvPr>
          <p:cNvSpPr txBox="1"/>
          <p:nvPr/>
        </p:nvSpPr>
        <p:spPr>
          <a:xfrm>
            <a:off x="140705" y="1251054"/>
            <a:ext cx="7521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Root Note: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A18202F-DD35-4F60-8942-0A6BE1551CB9}"/>
              </a:ext>
            </a:extLst>
          </p:cNvPr>
          <p:cNvSpPr txBox="1"/>
          <p:nvPr/>
        </p:nvSpPr>
        <p:spPr>
          <a:xfrm>
            <a:off x="112055" y="1783259"/>
            <a:ext cx="4700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Type: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6757C92-B885-460C-8556-971999B62C74}"/>
              </a:ext>
            </a:extLst>
          </p:cNvPr>
          <p:cNvSpPr txBox="1"/>
          <p:nvPr/>
        </p:nvSpPr>
        <p:spPr>
          <a:xfrm>
            <a:off x="112055" y="2343697"/>
            <a:ext cx="6671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Modifier:</a:t>
            </a:r>
          </a:p>
        </p:txBody>
      </p:sp>
      <p:graphicFrame>
        <p:nvGraphicFramePr>
          <p:cNvPr id="36" name="Table 36">
            <a:extLst>
              <a:ext uri="{FF2B5EF4-FFF2-40B4-BE49-F238E27FC236}">
                <a16:creationId xmlns:a16="http://schemas.microsoft.com/office/drawing/2014/main" id="{0C40345E-7218-4AEB-A15D-F7F381C18B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2176032"/>
              </p:ext>
            </p:extLst>
          </p:nvPr>
        </p:nvGraphicFramePr>
        <p:xfrm>
          <a:off x="3856400" y="3623620"/>
          <a:ext cx="6682800" cy="487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13800">
                  <a:extLst>
                    <a:ext uri="{9D8B030D-6E8A-4147-A177-3AD203B41FA5}">
                      <a16:colId xmlns:a16="http://schemas.microsoft.com/office/drawing/2014/main" val="382604860"/>
                    </a:ext>
                  </a:extLst>
                </a:gridCol>
                <a:gridCol w="1113800">
                  <a:extLst>
                    <a:ext uri="{9D8B030D-6E8A-4147-A177-3AD203B41FA5}">
                      <a16:colId xmlns:a16="http://schemas.microsoft.com/office/drawing/2014/main" val="3903095731"/>
                    </a:ext>
                  </a:extLst>
                </a:gridCol>
                <a:gridCol w="1113800">
                  <a:extLst>
                    <a:ext uri="{9D8B030D-6E8A-4147-A177-3AD203B41FA5}">
                      <a16:colId xmlns:a16="http://schemas.microsoft.com/office/drawing/2014/main" val="2337847444"/>
                    </a:ext>
                  </a:extLst>
                </a:gridCol>
                <a:gridCol w="1113800">
                  <a:extLst>
                    <a:ext uri="{9D8B030D-6E8A-4147-A177-3AD203B41FA5}">
                      <a16:colId xmlns:a16="http://schemas.microsoft.com/office/drawing/2014/main" val="3645223381"/>
                    </a:ext>
                  </a:extLst>
                </a:gridCol>
                <a:gridCol w="1113800">
                  <a:extLst>
                    <a:ext uri="{9D8B030D-6E8A-4147-A177-3AD203B41FA5}">
                      <a16:colId xmlns:a16="http://schemas.microsoft.com/office/drawing/2014/main" val="2544674589"/>
                    </a:ext>
                  </a:extLst>
                </a:gridCol>
                <a:gridCol w="1113800">
                  <a:extLst>
                    <a:ext uri="{9D8B030D-6E8A-4147-A177-3AD203B41FA5}">
                      <a16:colId xmlns:a16="http://schemas.microsoft.com/office/drawing/2014/main" val="3169980525"/>
                    </a:ext>
                  </a:extLst>
                </a:gridCol>
              </a:tblGrid>
              <a:tr h="237785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INTERVAL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R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3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5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7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8</a:t>
                      </a:r>
                      <a:endParaRPr lang="en-CA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2517296"/>
                  </a:ext>
                </a:extLst>
              </a:tr>
              <a:tr h="237785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NOTE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C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E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G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B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C</a:t>
                      </a:r>
                      <a:endParaRPr lang="en-CA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5699086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E6631ACE-958A-4E30-B124-654D6F2E92E8}"/>
              </a:ext>
            </a:extLst>
          </p:cNvPr>
          <p:cNvSpPr txBox="1"/>
          <p:nvPr/>
        </p:nvSpPr>
        <p:spPr>
          <a:xfrm>
            <a:off x="1746983" y="684605"/>
            <a:ext cx="457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C 7+</a:t>
            </a:r>
            <a:endParaRPr lang="en-CA" sz="1200" b="1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6E70BCD-95C2-43A4-A418-65E5A6A54093}"/>
              </a:ext>
            </a:extLst>
          </p:cNvPr>
          <p:cNvSpPr/>
          <p:nvPr/>
        </p:nvSpPr>
        <p:spPr>
          <a:xfrm>
            <a:off x="193902" y="3151131"/>
            <a:ext cx="1303873" cy="2301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B514F1-9CDB-412F-8667-4124426139AC}"/>
              </a:ext>
            </a:extLst>
          </p:cNvPr>
          <p:cNvSpPr txBox="1"/>
          <p:nvPr/>
        </p:nvSpPr>
        <p:spPr>
          <a:xfrm>
            <a:off x="115953" y="2897760"/>
            <a:ext cx="5373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Shape: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46D03A1-8B50-4D97-AE5E-D0B8EEF2A219}"/>
              </a:ext>
            </a:extLst>
          </p:cNvPr>
          <p:cNvSpPr/>
          <p:nvPr/>
        </p:nvSpPr>
        <p:spPr>
          <a:xfrm>
            <a:off x="1829399" y="4855882"/>
            <a:ext cx="10018729" cy="1954948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Ascending: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Descending: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endParaRPr lang="en-CA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0088B06-704A-471E-B872-36D592698D52}"/>
              </a:ext>
            </a:extLst>
          </p:cNvPr>
          <p:cNvSpPr txBox="1"/>
          <p:nvPr/>
        </p:nvSpPr>
        <p:spPr>
          <a:xfrm>
            <a:off x="1823927" y="4536353"/>
            <a:ext cx="4090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Tab:</a:t>
            </a:r>
            <a:endParaRPr lang="en-CA" sz="10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C7DA093-52A6-4E0E-847D-FF66ED1F9F89}"/>
              </a:ext>
            </a:extLst>
          </p:cNvPr>
          <p:cNvSpPr txBox="1"/>
          <p:nvPr/>
        </p:nvSpPr>
        <p:spPr>
          <a:xfrm>
            <a:off x="1823927" y="3338159"/>
            <a:ext cx="5261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Notes:</a:t>
            </a:r>
            <a:endParaRPr lang="en-CA" sz="10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9E8731E-ABC3-4399-B56B-B462A5A01855}"/>
              </a:ext>
            </a:extLst>
          </p:cNvPr>
          <p:cNvSpPr txBox="1"/>
          <p:nvPr/>
        </p:nvSpPr>
        <p:spPr>
          <a:xfrm>
            <a:off x="1746983" y="1213668"/>
            <a:ext cx="5725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Tuning:</a:t>
            </a:r>
            <a:endParaRPr lang="en-CA" sz="100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5F4F9B5-101F-4493-9755-EFC6DCE78C1D}"/>
              </a:ext>
            </a:extLst>
          </p:cNvPr>
          <p:cNvSpPr/>
          <p:nvPr/>
        </p:nvSpPr>
        <p:spPr>
          <a:xfrm>
            <a:off x="5476875" y="0"/>
            <a:ext cx="6499125" cy="50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1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SCALES      </a:t>
            </a:r>
            <a:r>
              <a:rPr lang="en-US" sz="1100" b="1" dirty="0"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CHORDS</a:t>
            </a:r>
            <a:r>
              <a:rPr lang="en-US" sz="11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     CHORD PROGRESSION      ARPEGGIOS      LESSONS      EXERCISES      LOGIN</a:t>
            </a:r>
            <a:endParaRPr lang="en-CA" sz="1100" b="1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29131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7FC291B7-0A82-427B-8A70-A54DE2F80D5D}"/>
              </a:ext>
            </a:extLst>
          </p:cNvPr>
          <p:cNvSpPr/>
          <p:nvPr/>
        </p:nvSpPr>
        <p:spPr>
          <a:xfrm>
            <a:off x="1723659" y="636601"/>
            <a:ext cx="10274438" cy="381088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FB32B47-212B-4510-94DD-43E414F4AAD0}"/>
              </a:ext>
            </a:extLst>
          </p:cNvPr>
          <p:cNvSpPr/>
          <p:nvPr/>
        </p:nvSpPr>
        <p:spPr>
          <a:xfrm>
            <a:off x="1723659" y="1159499"/>
            <a:ext cx="10274438" cy="1976159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04AE615-670F-4311-9EE2-05E7F0A8DB7E}"/>
              </a:ext>
            </a:extLst>
          </p:cNvPr>
          <p:cNvSpPr/>
          <p:nvPr/>
        </p:nvSpPr>
        <p:spPr>
          <a:xfrm>
            <a:off x="1733029" y="3292892"/>
            <a:ext cx="10274438" cy="111651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9F40DD6-8139-4F9F-8B3E-61F008AD9A96}"/>
              </a:ext>
            </a:extLst>
          </p:cNvPr>
          <p:cNvSpPr/>
          <p:nvPr/>
        </p:nvSpPr>
        <p:spPr>
          <a:xfrm>
            <a:off x="73955" y="638054"/>
            <a:ext cx="1568176" cy="63831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endParaRPr lang="en-CA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1BC9BE-36DB-43DB-BEF0-03F7A9B0976A}"/>
              </a:ext>
            </a:extLst>
          </p:cNvPr>
          <p:cNvSpPr/>
          <p:nvPr/>
        </p:nvSpPr>
        <p:spPr>
          <a:xfrm>
            <a:off x="-6134" y="1"/>
            <a:ext cx="12192000" cy="504534"/>
          </a:xfrm>
          <a:prstGeom prst="rect">
            <a:avLst/>
          </a:prstGeom>
          <a:solidFill>
            <a:srgbClr val="401D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                 CHORD PROGRESSION</a:t>
            </a:r>
            <a:endParaRPr lang="en-CA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C31854-4282-440A-9D0F-A77E5939452F}"/>
              </a:ext>
            </a:extLst>
          </p:cNvPr>
          <p:cNvSpPr/>
          <p:nvPr/>
        </p:nvSpPr>
        <p:spPr>
          <a:xfrm>
            <a:off x="-12268" y="7178487"/>
            <a:ext cx="12192000" cy="454213"/>
          </a:xfrm>
          <a:prstGeom prst="rect">
            <a:avLst/>
          </a:prstGeom>
          <a:solidFill>
            <a:srgbClr val="401D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Guitar Wizard – Developed by Jeison Eccel</a:t>
            </a:r>
            <a:endParaRPr lang="en-CA" sz="1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E751D5-29AD-4A29-91C6-C5AE32AEB7BF}"/>
              </a:ext>
            </a:extLst>
          </p:cNvPr>
          <p:cNvSpPr/>
          <p:nvPr/>
        </p:nvSpPr>
        <p:spPr>
          <a:xfrm>
            <a:off x="2392689" y="1503479"/>
            <a:ext cx="9446070" cy="1416205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361A93-0F5F-41AB-9D37-074745EBB00B}"/>
              </a:ext>
            </a:extLst>
          </p:cNvPr>
          <p:cNvSpPr/>
          <p:nvPr/>
        </p:nvSpPr>
        <p:spPr>
          <a:xfrm>
            <a:off x="1820033" y="1503479"/>
            <a:ext cx="413327" cy="17267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E</a:t>
            </a:r>
            <a:endParaRPr lang="en-CA" sz="10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B1442C-59CD-49F1-9EAF-2C791DFB775A}"/>
              </a:ext>
            </a:extLst>
          </p:cNvPr>
          <p:cNvSpPr/>
          <p:nvPr/>
        </p:nvSpPr>
        <p:spPr>
          <a:xfrm>
            <a:off x="1820031" y="1748015"/>
            <a:ext cx="413327" cy="17267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B</a:t>
            </a:r>
            <a:endParaRPr lang="en-CA" sz="10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43C745-1C8A-47A8-BEAB-E1CBF4E0F476}"/>
              </a:ext>
            </a:extLst>
          </p:cNvPr>
          <p:cNvSpPr/>
          <p:nvPr/>
        </p:nvSpPr>
        <p:spPr>
          <a:xfrm>
            <a:off x="1820030" y="1992381"/>
            <a:ext cx="413327" cy="17267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G</a:t>
            </a:r>
            <a:endParaRPr lang="en-CA" sz="10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BE4819-D729-4FA8-8423-297E6A007059}"/>
              </a:ext>
            </a:extLst>
          </p:cNvPr>
          <p:cNvSpPr/>
          <p:nvPr/>
        </p:nvSpPr>
        <p:spPr>
          <a:xfrm>
            <a:off x="1820030" y="2237172"/>
            <a:ext cx="413327" cy="17267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</a:t>
            </a:r>
            <a:endParaRPr lang="en-CA" sz="10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08620B-BBED-4C53-9B90-452AE9E16707}"/>
              </a:ext>
            </a:extLst>
          </p:cNvPr>
          <p:cNvSpPr/>
          <p:nvPr/>
        </p:nvSpPr>
        <p:spPr>
          <a:xfrm>
            <a:off x="1820030" y="2480785"/>
            <a:ext cx="413327" cy="17267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</a:t>
            </a:r>
            <a:endParaRPr lang="en-CA" sz="10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599F543-F820-4FFE-99DD-262CE35F1100}"/>
              </a:ext>
            </a:extLst>
          </p:cNvPr>
          <p:cNvSpPr/>
          <p:nvPr/>
        </p:nvSpPr>
        <p:spPr>
          <a:xfrm>
            <a:off x="1820029" y="2733634"/>
            <a:ext cx="413327" cy="17267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E</a:t>
            </a:r>
            <a:endParaRPr lang="en-CA" sz="100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95B148-4C58-4893-81F8-750707CA0E4B}"/>
              </a:ext>
            </a:extLst>
          </p:cNvPr>
          <p:cNvSpPr/>
          <p:nvPr/>
        </p:nvSpPr>
        <p:spPr>
          <a:xfrm>
            <a:off x="-6134" y="0"/>
            <a:ext cx="856089" cy="49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LOGO</a:t>
            </a:r>
            <a:endParaRPr lang="en-CA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F866865-DC9F-4D6F-A610-C791D77E924D}"/>
              </a:ext>
            </a:extLst>
          </p:cNvPr>
          <p:cNvSpPr/>
          <p:nvPr/>
        </p:nvSpPr>
        <p:spPr>
          <a:xfrm>
            <a:off x="2867345" y="2202972"/>
            <a:ext cx="241077" cy="241077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E</a:t>
            </a:r>
            <a:endParaRPr lang="en-CA" sz="100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CC0F76A-EB54-4D86-9966-34E7C2D16B7F}"/>
              </a:ext>
            </a:extLst>
          </p:cNvPr>
          <p:cNvSpPr/>
          <p:nvPr/>
        </p:nvSpPr>
        <p:spPr>
          <a:xfrm>
            <a:off x="3189950" y="2412386"/>
            <a:ext cx="241077" cy="241077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</a:t>
            </a:r>
            <a:endParaRPr lang="en-CA" sz="100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E7B03DD-41A1-4402-941B-7893DD7AED00}"/>
              </a:ext>
            </a:extLst>
          </p:cNvPr>
          <p:cNvSpPr/>
          <p:nvPr/>
        </p:nvSpPr>
        <p:spPr>
          <a:xfrm>
            <a:off x="2485060" y="1738182"/>
            <a:ext cx="241077" cy="241077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</a:t>
            </a:r>
            <a:endParaRPr lang="en-CA" sz="1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A9E5F4B-3FA1-4A7E-99D3-3FCCD849CD73}"/>
              </a:ext>
            </a:extLst>
          </p:cNvPr>
          <p:cNvSpPr txBox="1"/>
          <p:nvPr/>
        </p:nvSpPr>
        <p:spPr>
          <a:xfrm>
            <a:off x="140705" y="724039"/>
            <a:ext cx="6655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# Strings: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966E635-6590-45A0-ABF7-D937D2A68139}"/>
              </a:ext>
            </a:extLst>
          </p:cNvPr>
          <p:cNvSpPr/>
          <p:nvPr/>
        </p:nvSpPr>
        <p:spPr>
          <a:xfrm>
            <a:off x="193903" y="957946"/>
            <a:ext cx="1303873" cy="2301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6 strings</a:t>
            </a:r>
            <a:endParaRPr lang="en-CA" sz="10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8B62913-31DC-4996-86A2-E267C7043A97}"/>
              </a:ext>
            </a:extLst>
          </p:cNvPr>
          <p:cNvSpPr/>
          <p:nvPr/>
        </p:nvSpPr>
        <p:spPr>
          <a:xfrm>
            <a:off x="204181" y="1482017"/>
            <a:ext cx="1303873" cy="2301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C</a:t>
            </a:r>
            <a:endParaRPr lang="en-CA" sz="10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5AAA5CD-F3F9-4E34-BF7A-FC112E202803}"/>
              </a:ext>
            </a:extLst>
          </p:cNvPr>
          <p:cNvSpPr/>
          <p:nvPr/>
        </p:nvSpPr>
        <p:spPr>
          <a:xfrm>
            <a:off x="193903" y="2026316"/>
            <a:ext cx="1303873" cy="2301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Major</a:t>
            </a:r>
            <a:endParaRPr lang="en-CA" sz="1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BC57520-B56E-411E-BD76-AAA1AEF13D34}"/>
              </a:ext>
            </a:extLst>
          </p:cNvPr>
          <p:cNvSpPr txBox="1"/>
          <p:nvPr/>
        </p:nvSpPr>
        <p:spPr>
          <a:xfrm>
            <a:off x="140705" y="1251054"/>
            <a:ext cx="7521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Root Note: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A18202F-DD35-4F60-8942-0A6BE1551CB9}"/>
              </a:ext>
            </a:extLst>
          </p:cNvPr>
          <p:cNvSpPr txBox="1"/>
          <p:nvPr/>
        </p:nvSpPr>
        <p:spPr>
          <a:xfrm>
            <a:off x="112055" y="1783259"/>
            <a:ext cx="4860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Scale: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6631ACE-958A-4E30-B124-654D6F2E92E8}"/>
              </a:ext>
            </a:extLst>
          </p:cNvPr>
          <p:cNvSpPr txBox="1"/>
          <p:nvPr/>
        </p:nvSpPr>
        <p:spPr>
          <a:xfrm>
            <a:off x="1746983" y="684605"/>
            <a:ext cx="7734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C MAJOR</a:t>
            </a:r>
            <a:endParaRPr lang="en-CA" sz="1200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C7DA093-52A6-4E0E-847D-FF66ED1F9F89}"/>
              </a:ext>
            </a:extLst>
          </p:cNvPr>
          <p:cNvSpPr txBox="1"/>
          <p:nvPr/>
        </p:nvSpPr>
        <p:spPr>
          <a:xfrm>
            <a:off x="1823927" y="3338159"/>
            <a:ext cx="58381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Chords:</a:t>
            </a:r>
            <a:endParaRPr lang="en-CA" sz="10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9E8731E-ABC3-4399-B56B-B462A5A01855}"/>
              </a:ext>
            </a:extLst>
          </p:cNvPr>
          <p:cNvSpPr txBox="1"/>
          <p:nvPr/>
        </p:nvSpPr>
        <p:spPr>
          <a:xfrm>
            <a:off x="1746983" y="1213668"/>
            <a:ext cx="5725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Tuning:</a:t>
            </a:r>
            <a:endParaRPr lang="en-CA" sz="1000" dirty="0"/>
          </a:p>
        </p:txBody>
      </p:sp>
      <p:graphicFrame>
        <p:nvGraphicFramePr>
          <p:cNvPr id="52" name="Table 36">
            <a:extLst>
              <a:ext uri="{FF2B5EF4-FFF2-40B4-BE49-F238E27FC236}">
                <a16:creationId xmlns:a16="http://schemas.microsoft.com/office/drawing/2014/main" id="{CCC90DBD-5433-4FC7-8926-BFD57E5516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5664530"/>
              </p:ext>
            </p:extLst>
          </p:nvPr>
        </p:nvGraphicFramePr>
        <p:xfrm>
          <a:off x="1823928" y="3622319"/>
          <a:ext cx="10024200" cy="7315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13800">
                  <a:extLst>
                    <a:ext uri="{9D8B030D-6E8A-4147-A177-3AD203B41FA5}">
                      <a16:colId xmlns:a16="http://schemas.microsoft.com/office/drawing/2014/main" val="382604860"/>
                    </a:ext>
                  </a:extLst>
                </a:gridCol>
                <a:gridCol w="1113800">
                  <a:extLst>
                    <a:ext uri="{9D8B030D-6E8A-4147-A177-3AD203B41FA5}">
                      <a16:colId xmlns:a16="http://schemas.microsoft.com/office/drawing/2014/main" val="3903095731"/>
                    </a:ext>
                  </a:extLst>
                </a:gridCol>
                <a:gridCol w="1113800">
                  <a:extLst>
                    <a:ext uri="{9D8B030D-6E8A-4147-A177-3AD203B41FA5}">
                      <a16:colId xmlns:a16="http://schemas.microsoft.com/office/drawing/2014/main" val="2710649396"/>
                    </a:ext>
                  </a:extLst>
                </a:gridCol>
                <a:gridCol w="1113800">
                  <a:extLst>
                    <a:ext uri="{9D8B030D-6E8A-4147-A177-3AD203B41FA5}">
                      <a16:colId xmlns:a16="http://schemas.microsoft.com/office/drawing/2014/main" val="2337847444"/>
                    </a:ext>
                  </a:extLst>
                </a:gridCol>
                <a:gridCol w="1113800">
                  <a:extLst>
                    <a:ext uri="{9D8B030D-6E8A-4147-A177-3AD203B41FA5}">
                      <a16:colId xmlns:a16="http://schemas.microsoft.com/office/drawing/2014/main" val="2013261313"/>
                    </a:ext>
                  </a:extLst>
                </a:gridCol>
                <a:gridCol w="1113800">
                  <a:extLst>
                    <a:ext uri="{9D8B030D-6E8A-4147-A177-3AD203B41FA5}">
                      <a16:colId xmlns:a16="http://schemas.microsoft.com/office/drawing/2014/main" val="3645223381"/>
                    </a:ext>
                  </a:extLst>
                </a:gridCol>
                <a:gridCol w="1113800">
                  <a:extLst>
                    <a:ext uri="{9D8B030D-6E8A-4147-A177-3AD203B41FA5}">
                      <a16:colId xmlns:a16="http://schemas.microsoft.com/office/drawing/2014/main" val="2824009681"/>
                    </a:ext>
                  </a:extLst>
                </a:gridCol>
                <a:gridCol w="1113800">
                  <a:extLst>
                    <a:ext uri="{9D8B030D-6E8A-4147-A177-3AD203B41FA5}">
                      <a16:colId xmlns:a16="http://schemas.microsoft.com/office/drawing/2014/main" val="2544674589"/>
                    </a:ext>
                  </a:extLst>
                </a:gridCol>
                <a:gridCol w="1113800">
                  <a:extLst>
                    <a:ext uri="{9D8B030D-6E8A-4147-A177-3AD203B41FA5}">
                      <a16:colId xmlns:a16="http://schemas.microsoft.com/office/drawing/2014/main" val="3169980525"/>
                    </a:ext>
                  </a:extLst>
                </a:gridCol>
              </a:tblGrid>
              <a:tr h="237785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INTERVAL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R</a:t>
                      </a:r>
                      <a:endParaRPr lang="en-CA" sz="1000" dirty="0"/>
                    </a:p>
                  </a:txBody>
                  <a:tcPr>
                    <a:solidFill>
                      <a:srgbClr val="401D0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2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3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4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5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6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7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8</a:t>
                      </a:r>
                      <a:endParaRPr lang="en-CA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2517296"/>
                  </a:ext>
                </a:extLst>
              </a:tr>
              <a:tr h="237785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I-III-V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C</a:t>
                      </a:r>
                      <a:endParaRPr lang="en-CA" sz="1000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Dm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Em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F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G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Am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B°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C</a:t>
                      </a:r>
                      <a:endParaRPr lang="en-CA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5699086"/>
                  </a:ext>
                </a:extLst>
              </a:tr>
              <a:tr h="237785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 I-III-V-VII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C7+</a:t>
                      </a:r>
                      <a:endParaRPr lang="en-CA" sz="1000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Dm7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Em7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F7+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G7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Am7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Bm7/b5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C7+</a:t>
                      </a:r>
                      <a:endParaRPr lang="en-CA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8226662"/>
                  </a:ext>
                </a:extLst>
              </a:tr>
            </a:tbl>
          </a:graphicData>
        </a:graphic>
      </p:graphicFrame>
      <p:sp>
        <p:nvSpPr>
          <p:cNvPr id="53" name="Rectangle 52">
            <a:extLst>
              <a:ext uri="{FF2B5EF4-FFF2-40B4-BE49-F238E27FC236}">
                <a16:creationId xmlns:a16="http://schemas.microsoft.com/office/drawing/2014/main" id="{D8987BE4-537F-4ED0-A107-B3B5DFF206BD}"/>
              </a:ext>
            </a:extLst>
          </p:cNvPr>
          <p:cNvSpPr/>
          <p:nvPr/>
        </p:nvSpPr>
        <p:spPr>
          <a:xfrm>
            <a:off x="5476875" y="0"/>
            <a:ext cx="6499125" cy="50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1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SCALES      CHORDS      </a:t>
            </a:r>
            <a:r>
              <a:rPr lang="en-US" sz="1100" b="1" dirty="0"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CHORD PROGRESSION</a:t>
            </a:r>
            <a:r>
              <a:rPr lang="en-US" sz="11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     ARPEGGIOS      LESSONS      EXERCISES      LOGIN</a:t>
            </a:r>
            <a:endParaRPr lang="en-CA" sz="1100" b="1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6415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7FC291B7-0A82-427B-8A70-A54DE2F80D5D}"/>
              </a:ext>
            </a:extLst>
          </p:cNvPr>
          <p:cNvSpPr/>
          <p:nvPr/>
        </p:nvSpPr>
        <p:spPr>
          <a:xfrm>
            <a:off x="1723659" y="636601"/>
            <a:ext cx="10274438" cy="381088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FB32B47-212B-4510-94DD-43E414F4AAD0}"/>
              </a:ext>
            </a:extLst>
          </p:cNvPr>
          <p:cNvSpPr/>
          <p:nvPr/>
        </p:nvSpPr>
        <p:spPr>
          <a:xfrm>
            <a:off x="1723659" y="1159499"/>
            <a:ext cx="10274438" cy="1976159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D9566BA-A384-4C00-A45D-34323E5D6483}"/>
              </a:ext>
            </a:extLst>
          </p:cNvPr>
          <p:cNvSpPr/>
          <p:nvPr/>
        </p:nvSpPr>
        <p:spPr>
          <a:xfrm>
            <a:off x="1733029" y="4449827"/>
            <a:ext cx="10274438" cy="2571426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04AE615-670F-4311-9EE2-05E7F0A8DB7E}"/>
              </a:ext>
            </a:extLst>
          </p:cNvPr>
          <p:cNvSpPr/>
          <p:nvPr/>
        </p:nvSpPr>
        <p:spPr>
          <a:xfrm>
            <a:off x="1733029" y="3292892"/>
            <a:ext cx="10274438" cy="1017252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9F40DD6-8139-4F9F-8B3E-61F008AD9A96}"/>
              </a:ext>
            </a:extLst>
          </p:cNvPr>
          <p:cNvSpPr/>
          <p:nvPr/>
        </p:nvSpPr>
        <p:spPr>
          <a:xfrm>
            <a:off x="73955" y="638054"/>
            <a:ext cx="1568176" cy="63831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endParaRPr lang="en-CA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1BC9BE-36DB-43DB-BEF0-03F7A9B0976A}"/>
              </a:ext>
            </a:extLst>
          </p:cNvPr>
          <p:cNvSpPr/>
          <p:nvPr/>
        </p:nvSpPr>
        <p:spPr>
          <a:xfrm>
            <a:off x="-6134" y="1"/>
            <a:ext cx="12192000" cy="504534"/>
          </a:xfrm>
          <a:prstGeom prst="rect">
            <a:avLst/>
          </a:prstGeom>
          <a:solidFill>
            <a:srgbClr val="401D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                 ARPEGGIOS</a:t>
            </a:r>
            <a:endParaRPr lang="en-CA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C31854-4282-440A-9D0F-A77E5939452F}"/>
              </a:ext>
            </a:extLst>
          </p:cNvPr>
          <p:cNvSpPr/>
          <p:nvPr/>
        </p:nvSpPr>
        <p:spPr>
          <a:xfrm>
            <a:off x="-12268" y="7178487"/>
            <a:ext cx="12192000" cy="454213"/>
          </a:xfrm>
          <a:prstGeom prst="rect">
            <a:avLst/>
          </a:prstGeom>
          <a:solidFill>
            <a:srgbClr val="401D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Guitar Wizard – Developed by Jeison Eccel</a:t>
            </a:r>
            <a:endParaRPr lang="en-CA" sz="1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E751D5-29AD-4A29-91C6-C5AE32AEB7BF}"/>
              </a:ext>
            </a:extLst>
          </p:cNvPr>
          <p:cNvSpPr/>
          <p:nvPr/>
        </p:nvSpPr>
        <p:spPr>
          <a:xfrm>
            <a:off x="2392689" y="1503479"/>
            <a:ext cx="9446070" cy="1416205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361A93-0F5F-41AB-9D37-074745EBB00B}"/>
              </a:ext>
            </a:extLst>
          </p:cNvPr>
          <p:cNvSpPr/>
          <p:nvPr/>
        </p:nvSpPr>
        <p:spPr>
          <a:xfrm>
            <a:off x="1820033" y="1503479"/>
            <a:ext cx="413327" cy="17267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E</a:t>
            </a:r>
            <a:endParaRPr lang="en-CA" sz="10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B1442C-59CD-49F1-9EAF-2C791DFB775A}"/>
              </a:ext>
            </a:extLst>
          </p:cNvPr>
          <p:cNvSpPr/>
          <p:nvPr/>
        </p:nvSpPr>
        <p:spPr>
          <a:xfrm>
            <a:off x="1820031" y="1748015"/>
            <a:ext cx="413327" cy="17267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B</a:t>
            </a:r>
            <a:endParaRPr lang="en-CA" sz="10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43C745-1C8A-47A8-BEAB-E1CBF4E0F476}"/>
              </a:ext>
            </a:extLst>
          </p:cNvPr>
          <p:cNvSpPr/>
          <p:nvPr/>
        </p:nvSpPr>
        <p:spPr>
          <a:xfrm>
            <a:off x="1820030" y="1992381"/>
            <a:ext cx="413327" cy="17267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G</a:t>
            </a:r>
            <a:endParaRPr lang="en-CA" sz="10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BE4819-D729-4FA8-8423-297E6A007059}"/>
              </a:ext>
            </a:extLst>
          </p:cNvPr>
          <p:cNvSpPr/>
          <p:nvPr/>
        </p:nvSpPr>
        <p:spPr>
          <a:xfrm>
            <a:off x="1820030" y="2237172"/>
            <a:ext cx="413327" cy="17267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</a:t>
            </a:r>
            <a:endParaRPr lang="en-CA" sz="10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08620B-BBED-4C53-9B90-452AE9E16707}"/>
              </a:ext>
            </a:extLst>
          </p:cNvPr>
          <p:cNvSpPr/>
          <p:nvPr/>
        </p:nvSpPr>
        <p:spPr>
          <a:xfrm>
            <a:off x="1820030" y="2480785"/>
            <a:ext cx="413327" cy="17267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</a:t>
            </a:r>
            <a:endParaRPr lang="en-CA" sz="10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599F543-F820-4FFE-99DD-262CE35F1100}"/>
              </a:ext>
            </a:extLst>
          </p:cNvPr>
          <p:cNvSpPr/>
          <p:nvPr/>
        </p:nvSpPr>
        <p:spPr>
          <a:xfrm>
            <a:off x="1820029" y="2733634"/>
            <a:ext cx="413327" cy="17267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E</a:t>
            </a:r>
            <a:endParaRPr lang="en-CA" sz="100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95B148-4C58-4893-81F8-750707CA0E4B}"/>
              </a:ext>
            </a:extLst>
          </p:cNvPr>
          <p:cNvSpPr/>
          <p:nvPr/>
        </p:nvSpPr>
        <p:spPr>
          <a:xfrm>
            <a:off x="-6134" y="0"/>
            <a:ext cx="856089" cy="49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LOGO</a:t>
            </a:r>
            <a:endParaRPr lang="en-CA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F866865-DC9F-4D6F-A610-C791D77E924D}"/>
              </a:ext>
            </a:extLst>
          </p:cNvPr>
          <p:cNvSpPr/>
          <p:nvPr/>
        </p:nvSpPr>
        <p:spPr>
          <a:xfrm>
            <a:off x="2867345" y="2202972"/>
            <a:ext cx="241077" cy="241077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E</a:t>
            </a:r>
            <a:endParaRPr lang="en-CA" sz="100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CC0F76A-EB54-4D86-9966-34E7C2D16B7F}"/>
              </a:ext>
            </a:extLst>
          </p:cNvPr>
          <p:cNvSpPr/>
          <p:nvPr/>
        </p:nvSpPr>
        <p:spPr>
          <a:xfrm>
            <a:off x="3189950" y="2412386"/>
            <a:ext cx="241077" cy="241077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</a:t>
            </a:r>
            <a:endParaRPr lang="en-CA" sz="100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E7B03DD-41A1-4402-941B-7893DD7AED00}"/>
              </a:ext>
            </a:extLst>
          </p:cNvPr>
          <p:cNvSpPr/>
          <p:nvPr/>
        </p:nvSpPr>
        <p:spPr>
          <a:xfrm>
            <a:off x="2485060" y="1738182"/>
            <a:ext cx="241077" cy="241077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</a:t>
            </a:r>
            <a:endParaRPr lang="en-CA" sz="1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A9E5F4B-3FA1-4A7E-99D3-3FCCD849CD73}"/>
              </a:ext>
            </a:extLst>
          </p:cNvPr>
          <p:cNvSpPr txBox="1"/>
          <p:nvPr/>
        </p:nvSpPr>
        <p:spPr>
          <a:xfrm>
            <a:off x="140705" y="724039"/>
            <a:ext cx="6655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# Strings: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966E635-6590-45A0-ABF7-D937D2A68139}"/>
              </a:ext>
            </a:extLst>
          </p:cNvPr>
          <p:cNvSpPr/>
          <p:nvPr/>
        </p:nvSpPr>
        <p:spPr>
          <a:xfrm>
            <a:off x="193903" y="957946"/>
            <a:ext cx="1303873" cy="2301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6 strings</a:t>
            </a:r>
            <a:endParaRPr lang="en-CA" sz="10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8B62913-31DC-4996-86A2-E267C7043A97}"/>
              </a:ext>
            </a:extLst>
          </p:cNvPr>
          <p:cNvSpPr/>
          <p:nvPr/>
        </p:nvSpPr>
        <p:spPr>
          <a:xfrm>
            <a:off x="204181" y="1482017"/>
            <a:ext cx="1303873" cy="2301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C</a:t>
            </a:r>
            <a:endParaRPr lang="en-CA" sz="10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5AAA5CD-F3F9-4E34-BF7A-FC112E202803}"/>
              </a:ext>
            </a:extLst>
          </p:cNvPr>
          <p:cNvSpPr/>
          <p:nvPr/>
        </p:nvSpPr>
        <p:spPr>
          <a:xfrm>
            <a:off x="193903" y="2026316"/>
            <a:ext cx="1303873" cy="2301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Major</a:t>
            </a:r>
            <a:endParaRPr lang="en-CA" sz="10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A1E8763-CB06-4D3B-82D2-572CEAC451BD}"/>
              </a:ext>
            </a:extLst>
          </p:cNvPr>
          <p:cNvSpPr/>
          <p:nvPr/>
        </p:nvSpPr>
        <p:spPr>
          <a:xfrm>
            <a:off x="182026" y="2612291"/>
            <a:ext cx="1303873" cy="2301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None</a:t>
            </a:r>
            <a:endParaRPr lang="en-CA" sz="1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BC57520-B56E-411E-BD76-AAA1AEF13D34}"/>
              </a:ext>
            </a:extLst>
          </p:cNvPr>
          <p:cNvSpPr txBox="1"/>
          <p:nvPr/>
        </p:nvSpPr>
        <p:spPr>
          <a:xfrm>
            <a:off x="140705" y="1251054"/>
            <a:ext cx="7521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Root Note: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A18202F-DD35-4F60-8942-0A6BE1551CB9}"/>
              </a:ext>
            </a:extLst>
          </p:cNvPr>
          <p:cNvSpPr txBox="1"/>
          <p:nvPr/>
        </p:nvSpPr>
        <p:spPr>
          <a:xfrm>
            <a:off x="112055" y="1783259"/>
            <a:ext cx="4700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Type: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6757C92-B885-460C-8556-971999B62C74}"/>
              </a:ext>
            </a:extLst>
          </p:cNvPr>
          <p:cNvSpPr txBox="1"/>
          <p:nvPr/>
        </p:nvSpPr>
        <p:spPr>
          <a:xfrm>
            <a:off x="112055" y="2343697"/>
            <a:ext cx="6671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Modifier: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6631ACE-958A-4E30-B124-654D6F2E92E8}"/>
              </a:ext>
            </a:extLst>
          </p:cNvPr>
          <p:cNvSpPr txBox="1"/>
          <p:nvPr/>
        </p:nvSpPr>
        <p:spPr>
          <a:xfrm>
            <a:off x="1746983" y="684605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C</a:t>
            </a:r>
            <a:endParaRPr lang="en-CA" sz="1200" b="1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6E70BCD-95C2-43A4-A418-65E5A6A54093}"/>
              </a:ext>
            </a:extLst>
          </p:cNvPr>
          <p:cNvSpPr/>
          <p:nvPr/>
        </p:nvSpPr>
        <p:spPr>
          <a:xfrm>
            <a:off x="193902" y="3151131"/>
            <a:ext cx="1303873" cy="2301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B514F1-9CDB-412F-8667-4124426139AC}"/>
              </a:ext>
            </a:extLst>
          </p:cNvPr>
          <p:cNvSpPr txBox="1"/>
          <p:nvPr/>
        </p:nvSpPr>
        <p:spPr>
          <a:xfrm>
            <a:off x="115953" y="2897760"/>
            <a:ext cx="5373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Shape: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46D03A1-8B50-4D97-AE5E-D0B8EEF2A219}"/>
              </a:ext>
            </a:extLst>
          </p:cNvPr>
          <p:cNvSpPr/>
          <p:nvPr/>
        </p:nvSpPr>
        <p:spPr>
          <a:xfrm>
            <a:off x="1829399" y="4855882"/>
            <a:ext cx="10018729" cy="1954948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Ascending: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Descending: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endParaRPr lang="en-CA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0088B06-704A-471E-B872-36D592698D52}"/>
              </a:ext>
            </a:extLst>
          </p:cNvPr>
          <p:cNvSpPr txBox="1"/>
          <p:nvPr/>
        </p:nvSpPr>
        <p:spPr>
          <a:xfrm>
            <a:off x="1823927" y="4536353"/>
            <a:ext cx="4090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Tab:</a:t>
            </a:r>
            <a:endParaRPr lang="en-CA" sz="10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C7DA093-52A6-4E0E-847D-FF66ED1F9F89}"/>
              </a:ext>
            </a:extLst>
          </p:cNvPr>
          <p:cNvSpPr txBox="1"/>
          <p:nvPr/>
        </p:nvSpPr>
        <p:spPr>
          <a:xfrm>
            <a:off x="1823927" y="3338159"/>
            <a:ext cx="5261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Notes:</a:t>
            </a:r>
            <a:endParaRPr lang="en-CA" sz="10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9E8731E-ABC3-4399-B56B-B462A5A01855}"/>
              </a:ext>
            </a:extLst>
          </p:cNvPr>
          <p:cNvSpPr txBox="1"/>
          <p:nvPr/>
        </p:nvSpPr>
        <p:spPr>
          <a:xfrm>
            <a:off x="1746983" y="1213668"/>
            <a:ext cx="5725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Tuning:</a:t>
            </a:r>
            <a:endParaRPr lang="en-CA" sz="1000" dirty="0"/>
          </a:p>
        </p:txBody>
      </p:sp>
      <p:graphicFrame>
        <p:nvGraphicFramePr>
          <p:cNvPr id="51" name="Table 36">
            <a:extLst>
              <a:ext uri="{FF2B5EF4-FFF2-40B4-BE49-F238E27FC236}">
                <a16:creationId xmlns:a16="http://schemas.microsoft.com/office/drawing/2014/main" id="{186C5028-FEB4-41E2-B3A4-78859CE018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4336071"/>
              </p:ext>
            </p:extLst>
          </p:nvPr>
        </p:nvGraphicFramePr>
        <p:xfrm>
          <a:off x="3856400" y="3623620"/>
          <a:ext cx="6682800" cy="487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13800">
                  <a:extLst>
                    <a:ext uri="{9D8B030D-6E8A-4147-A177-3AD203B41FA5}">
                      <a16:colId xmlns:a16="http://schemas.microsoft.com/office/drawing/2014/main" val="382604860"/>
                    </a:ext>
                  </a:extLst>
                </a:gridCol>
                <a:gridCol w="1113800">
                  <a:extLst>
                    <a:ext uri="{9D8B030D-6E8A-4147-A177-3AD203B41FA5}">
                      <a16:colId xmlns:a16="http://schemas.microsoft.com/office/drawing/2014/main" val="3903095731"/>
                    </a:ext>
                  </a:extLst>
                </a:gridCol>
                <a:gridCol w="1113800">
                  <a:extLst>
                    <a:ext uri="{9D8B030D-6E8A-4147-A177-3AD203B41FA5}">
                      <a16:colId xmlns:a16="http://schemas.microsoft.com/office/drawing/2014/main" val="2337847444"/>
                    </a:ext>
                  </a:extLst>
                </a:gridCol>
                <a:gridCol w="1113800">
                  <a:extLst>
                    <a:ext uri="{9D8B030D-6E8A-4147-A177-3AD203B41FA5}">
                      <a16:colId xmlns:a16="http://schemas.microsoft.com/office/drawing/2014/main" val="3645223381"/>
                    </a:ext>
                  </a:extLst>
                </a:gridCol>
                <a:gridCol w="1113800">
                  <a:extLst>
                    <a:ext uri="{9D8B030D-6E8A-4147-A177-3AD203B41FA5}">
                      <a16:colId xmlns:a16="http://schemas.microsoft.com/office/drawing/2014/main" val="2544674589"/>
                    </a:ext>
                  </a:extLst>
                </a:gridCol>
                <a:gridCol w="1113800">
                  <a:extLst>
                    <a:ext uri="{9D8B030D-6E8A-4147-A177-3AD203B41FA5}">
                      <a16:colId xmlns:a16="http://schemas.microsoft.com/office/drawing/2014/main" val="3169980525"/>
                    </a:ext>
                  </a:extLst>
                </a:gridCol>
              </a:tblGrid>
              <a:tr h="237785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INTERVAL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R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3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5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7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8</a:t>
                      </a:r>
                      <a:endParaRPr lang="en-CA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2517296"/>
                  </a:ext>
                </a:extLst>
              </a:tr>
              <a:tr h="237785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NOTE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C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E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G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B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C</a:t>
                      </a:r>
                      <a:endParaRPr lang="en-CA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5699086"/>
                  </a:ext>
                </a:extLst>
              </a:tr>
            </a:tbl>
          </a:graphicData>
        </a:graphic>
      </p:graphicFrame>
      <p:sp>
        <p:nvSpPr>
          <p:cNvPr id="52" name="Rectangle 51">
            <a:extLst>
              <a:ext uri="{FF2B5EF4-FFF2-40B4-BE49-F238E27FC236}">
                <a16:creationId xmlns:a16="http://schemas.microsoft.com/office/drawing/2014/main" id="{C1A21630-00D5-481F-A3E2-DF6BE3D30FB7}"/>
              </a:ext>
            </a:extLst>
          </p:cNvPr>
          <p:cNvSpPr/>
          <p:nvPr/>
        </p:nvSpPr>
        <p:spPr>
          <a:xfrm>
            <a:off x="5476875" y="0"/>
            <a:ext cx="6499125" cy="50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1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SCALES      CHORDS      CHORD PROGRESSION      </a:t>
            </a:r>
            <a:r>
              <a:rPr lang="en-US" sz="1100" b="1" dirty="0"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ARPEGGIOS</a:t>
            </a:r>
            <a:r>
              <a:rPr lang="en-US" sz="11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     LESSONS      EXERCISES      LOGIN</a:t>
            </a:r>
            <a:endParaRPr lang="en-CA" sz="1100" b="1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77700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7FC291B7-0A82-427B-8A70-A54DE2F80D5D}"/>
              </a:ext>
            </a:extLst>
          </p:cNvPr>
          <p:cNvSpPr/>
          <p:nvPr/>
        </p:nvSpPr>
        <p:spPr>
          <a:xfrm>
            <a:off x="1723659" y="636601"/>
            <a:ext cx="10274438" cy="381088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FB32B47-212B-4510-94DD-43E414F4AAD0}"/>
              </a:ext>
            </a:extLst>
          </p:cNvPr>
          <p:cNvSpPr/>
          <p:nvPr/>
        </p:nvSpPr>
        <p:spPr>
          <a:xfrm>
            <a:off x="1723659" y="1159499"/>
            <a:ext cx="10274438" cy="1976159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Content of the class…</a:t>
            </a:r>
            <a:endParaRPr lang="en-CA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9F40DD6-8139-4F9F-8B3E-61F008AD9A96}"/>
              </a:ext>
            </a:extLst>
          </p:cNvPr>
          <p:cNvSpPr/>
          <p:nvPr/>
        </p:nvSpPr>
        <p:spPr>
          <a:xfrm>
            <a:off x="73955" y="638054"/>
            <a:ext cx="1568176" cy="63831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endParaRPr lang="en-CA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1BC9BE-36DB-43DB-BEF0-03F7A9B0976A}"/>
              </a:ext>
            </a:extLst>
          </p:cNvPr>
          <p:cNvSpPr/>
          <p:nvPr/>
        </p:nvSpPr>
        <p:spPr>
          <a:xfrm>
            <a:off x="-6134" y="1"/>
            <a:ext cx="12192000" cy="504534"/>
          </a:xfrm>
          <a:prstGeom prst="rect">
            <a:avLst/>
          </a:prstGeom>
          <a:solidFill>
            <a:srgbClr val="401D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                 LESSONS</a:t>
            </a:r>
            <a:endParaRPr lang="en-CA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C31854-4282-440A-9D0F-A77E5939452F}"/>
              </a:ext>
            </a:extLst>
          </p:cNvPr>
          <p:cNvSpPr/>
          <p:nvPr/>
        </p:nvSpPr>
        <p:spPr>
          <a:xfrm>
            <a:off x="-12268" y="7178487"/>
            <a:ext cx="12192000" cy="454213"/>
          </a:xfrm>
          <a:prstGeom prst="rect">
            <a:avLst/>
          </a:prstGeom>
          <a:solidFill>
            <a:srgbClr val="401D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Guitar Wizard – Developed by Jeison Eccel</a:t>
            </a:r>
            <a:endParaRPr lang="en-CA" sz="1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95B148-4C58-4893-81F8-750707CA0E4B}"/>
              </a:ext>
            </a:extLst>
          </p:cNvPr>
          <p:cNvSpPr/>
          <p:nvPr/>
        </p:nvSpPr>
        <p:spPr>
          <a:xfrm>
            <a:off x="-6134" y="0"/>
            <a:ext cx="856089" cy="49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LOGO</a:t>
            </a:r>
            <a:endParaRPr lang="en-CA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A9E5F4B-3FA1-4A7E-99D3-3FCCD849CD73}"/>
              </a:ext>
            </a:extLst>
          </p:cNvPr>
          <p:cNvSpPr txBox="1"/>
          <p:nvPr/>
        </p:nvSpPr>
        <p:spPr>
          <a:xfrm>
            <a:off x="140705" y="724039"/>
            <a:ext cx="4876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Level: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966E635-6590-45A0-ABF7-D937D2A68139}"/>
              </a:ext>
            </a:extLst>
          </p:cNvPr>
          <p:cNvSpPr/>
          <p:nvPr/>
        </p:nvSpPr>
        <p:spPr>
          <a:xfrm>
            <a:off x="193903" y="957946"/>
            <a:ext cx="1303873" cy="2301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Intermediate</a:t>
            </a:r>
            <a:endParaRPr lang="en-CA" sz="10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8B62913-31DC-4996-86A2-E267C7043A97}"/>
              </a:ext>
            </a:extLst>
          </p:cNvPr>
          <p:cNvSpPr/>
          <p:nvPr/>
        </p:nvSpPr>
        <p:spPr>
          <a:xfrm>
            <a:off x="204181" y="1482017"/>
            <a:ext cx="1303873" cy="2301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Scales</a:t>
            </a:r>
            <a:endParaRPr lang="en-CA" sz="10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5AAA5CD-F3F9-4E34-BF7A-FC112E202803}"/>
              </a:ext>
            </a:extLst>
          </p:cNvPr>
          <p:cNvSpPr/>
          <p:nvPr/>
        </p:nvSpPr>
        <p:spPr>
          <a:xfrm>
            <a:off x="193903" y="2026316"/>
            <a:ext cx="1303873" cy="2301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Patterns</a:t>
            </a:r>
            <a:endParaRPr lang="en-CA" sz="1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BC57520-B56E-411E-BD76-AAA1AEF13D34}"/>
              </a:ext>
            </a:extLst>
          </p:cNvPr>
          <p:cNvSpPr txBox="1"/>
          <p:nvPr/>
        </p:nvSpPr>
        <p:spPr>
          <a:xfrm>
            <a:off x="140705" y="1251054"/>
            <a:ext cx="49885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Topic: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A18202F-DD35-4F60-8942-0A6BE1551CB9}"/>
              </a:ext>
            </a:extLst>
          </p:cNvPr>
          <p:cNvSpPr txBox="1"/>
          <p:nvPr/>
        </p:nvSpPr>
        <p:spPr>
          <a:xfrm>
            <a:off x="112055" y="1783259"/>
            <a:ext cx="4764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Class: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6631ACE-958A-4E30-B124-654D6F2E92E8}"/>
              </a:ext>
            </a:extLst>
          </p:cNvPr>
          <p:cNvSpPr txBox="1"/>
          <p:nvPr/>
        </p:nvSpPr>
        <p:spPr>
          <a:xfrm>
            <a:off x="1746982" y="684605"/>
            <a:ext cx="50919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Intermediate – Scales – Patterns</a:t>
            </a:r>
            <a:endParaRPr lang="en-CA" sz="1200" b="1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1A21630-00D5-481F-A3E2-DF6BE3D30FB7}"/>
              </a:ext>
            </a:extLst>
          </p:cNvPr>
          <p:cNvSpPr/>
          <p:nvPr/>
        </p:nvSpPr>
        <p:spPr>
          <a:xfrm>
            <a:off x="5476875" y="0"/>
            <a:ext cx="6499125" cy="50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1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SCALES      CHORDS      CHORD PROGRESSION      ARPEGGIOS      </a:t>
            </a:r>
            <a:r>
              <a:rPr lang="en-US" sz="1100" b="1" dirty="0"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LESSONS</a:t>
            </a:r>
            <a:r>
              <a:rPr lang="en-US" sz="11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     EXERCISES      LOGIN</a:t>
            </a:r>
            <a:endParaRPr lang="en-CA" sz="1100" b="1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40878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7FC291B7-0A82-427B-8A70-A54DE2F80D5D}"/>
              </a:ext>
            </a:extLst>
          </p:cNvPr>
          <p:cNvSpPr/>
          <p:nvPr/>
        </p:nvSpPr>
        <p:spPr>
          <a:xfrm>
            <a:off x="1723659" y="636601"/>
            <a:ext cx="10274438" cy="381088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FB32B47-212B-4510-94DD-43E414F4AAD0}"/>
              </a:ext>
            </a:extLst>
          </p:cNvPr>
          <p:cNvSpPr/>
          <p:nvPr/>
        </p:nvSpPr>
        <p:spPr>
          <a:xfrm>
            <a:off x="1723659" y="1159499"/>
            <a:ext cx="10274438" cy="1976159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Content of the Exercise…</a:t>
            </a:r>
            <a:endParaRPr lang="en-CA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9F40DD6-8139-4F9F-8B3E-61F008AD9A96}"/>
              </a:ext>
            </a:extLst>
          </p:cNvPr>
          <p:cNvSpPr/>
          <p:nvPr/>
        </p:nvSpPr>
        <p:spPr>
          <a:xfrm>
            <a:off x="73955" y="638054"/>
            <a:ext cx="1568176" cy="63831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endParaRPr lang="en-CA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1BC9BE-36DB-43DB-BEF0-03F7A9B0976A}"/>
              </a:ext>
            </a:extLst>
          </p:cNvPr>
          <p:cNvSpPr/>
          <p:nvPr/>
        </p:nvSpPr>
        <p:spPr>
          <a:xfrm>
            <a:off x="-6134" y="1"/>
            <a:ext cx="12192000" cy="504534"/>
          </a:xfrm>
          <a:prstGeom prst="rect">
            <a:avLst/>
          </a:prstGeom>
          <a:solidFill>
            <a:srgbClr val="401D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                 EXERCISES</a:t>
            </a:r>
            <a:endParaRPr lang="en-CA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C31854-4282-440A-9D0F-A77E5939452F}"/>
              </a:ext>
            </a:extLst>
          </p:cNvPr>
          <p:cNvSpPr/>
          <p:nvPr/>
        </p:nvSpPr>
        <p:spPr>
          <a:xfrm>
            <a:off x="-12268" y="7178487"/>
            <a:ext cx="12192000" cy="454213"/>
          </a:xfrm>
          <a:prstGeom prst="rect">
            <a:avLst/>
          </a:prstGeom>
          <a:solidFill>
            <a:srgbClr val="401D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Guitar Wizard – Developed by Jeison Eccel</a:t>
            </a:r>
            <a:endParaRPr lang="en-CA" sz="1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95B148-4C58-4893-81F8-750707CA0E4B}"/>
              </a:ext>
            </a:extLst>
          </p:cNvPr>
          <p:cNvSpPr/>
          <p:nvPr/>
        </p:nvSpPr>
        <p:spPr>
          <a:xfrm>
            <a:off x="-6134" y="0"/>
            <a:ext cx="856089" cy="49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LOGO</a:t>
            </a:r>
            <a:endParaRPr lang="en-CA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A9E5F4B-3FA1-4A7E-99D3-3FCCD849CD73}"/>
              </a:ext>
            </a:extLst>
          </p:cNvPr>
          <p:cNvSpPr txBox="1"/>
          <p:nvPr/>
        </p:nvSpPr>
        <p:spPr>
          <a:xfrm>
            <a:off x="140705" y="724039"/>
            <a:ext cx="76174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Technique: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966E635-6590-45A0-ABF7-D937D2A68139}"/>
              </a:ext>
            </a:extLst>
          </p:cNvPr>
          <p:cNvSpPr/>
          <p:nvPr/>
        </p:nvSpPr>
        <p:spPr>
          <a:xfrm>
            <a:off x="193903" y="957946"/>
            <a:ext cx="1303873" cy="2301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Warm-up</a:t>
            </a:r>
            <a:endParaRPr lang="en-CA" sz="10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8B62913-31DC-4996-86A2-E267C7043A97}"/>
              </a:ext>
            </a:extLst>
          </p:cNvPr>
          <p:cNvSpPr/>
          <p:nvPr/>
        </p:nvSpPr>
        <p:spPr>
          <a:xfrm>
            <a:off x="204181" y="1482017"/>
            <a:ext cx="1303873" cy="2301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#1</a:t>
            </a:r>
            <a:endParaRPr lang="en-CA" sz="1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BC57520-B56E-411E-BD76-AAA1AEF13D34}"/>
              </a:ext>
            </a:extLst>
          </p:cNvPr>
          <p:cNvSpPr txBox="1"/>
          <p:nvPr/>
        </p:nvSpPr>
        <p:spPr>
          <a:xfrm>
            <a:off x="140705" y="1251054"/>
            <a:ext cx="6431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Exercise: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6631ACE-958A-4E30-B124-654D6F2E92E8}"/>
              </a:ext>
            </a:extLst>
          </p:cNvPr>
          <p:cNvSpPr txBox="1"/>
          <p:nvPr/>
        </p:nvSpPr>
        <p:spPr>
          <a:xfrm>
            <a:off x="1746982" y="684605"/>
            <a:ext cx="50919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Warm-up - Exercise #1</a:t>
            </a:r>
            <a:endParaRPr lang="en-CA" sz="1200" b="1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1A21630-00D5-481F-A3E2-DF6BE3D30FB7}"/>
              </a:ext>
            </a:extLst>
          </p:cNvPr>
          <p:cNvSpPr/>
          <p:nvPr/>
        </p:nvSpPr>
        <p:spPr>
          <a:xfrm>
            <a:off x="5476875" y="0"/>
            <a:ext cx="6499125" cy="50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1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SCALES      CHORDS      CHORD PROGRESSION      ARPEGGIOS      LESSONS      </a:t>
            </a:r>
            <a:r>
              <a:rPr lang="en-US" sz="1100" b="1" dirty="0"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EXERCISES </a:t>
            </a:r>
            <a:r>
              <a:rPr lang="en-US" sz="11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    LOGIN</a:t>
            </a:r>
            <a:endParaRPr lang="en-CA" sz="1100" b="1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65514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7FC291B7-0A82-427B-8A70-A54DE2F80D5D}"/>
              </a:ext>
            </a:extLst>
          </p:cNvPr>
          <p:cNvSpPr/>
          <p:nvPr/>
        </p:nvSpPr>
        <p:spPr>
          <a:xfrm>
            <a:off x="1723659" y="636601"/>
            <a:ext cx="10274438" cy="381088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FB32B47-212B-4510-94DD-43E414F4AAD0}"/>
              </a:ext>
            </a:extLst>
          </p:cNvPr>
          <p:cNvSpPr/>
          <p:nvPr/>
        </p:nvSpPr>
        <p:spPr>
          <a:xfrm>
            <a:off x="1723659" y="1159499"/>
            <a:ext cx="10274438" cy="1976159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Content of the Exercise…</a:t>
            </a:r>
            <a:endParaRPr lang="en-CA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9F40DD6-8139-4F9F-8B3E-61F008AD9A96}"/>
              </a:ext>
            </a:extLst>
          </p:cNvPr>
          <p:cNvSpPr/>
          <p:nvPr/>
        </p:nvSpPr>
        <p:spPr>
          <a:xfrm>
            <a:off x="73955" y="638054"/>
            <a:ext cx="1568176" cy="63831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endParaRPr lang="en-CA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1BC9BE-36DB-43DB-BEF0-03F7A9B0976A}"/>
              </a:ext>
            </a:extLst>
          </p:cNvPr>
          <p:cNvSpPr/>
          <p:nvPr/>
        </p:nvSpPr>
        <p:spPr>
          <a:xfrm>
            <a:off x="-6134" y="1"/>
            <a:ext cx="12192000" cy="504534"/>
          </a:xfrm>
          <a:prstGeom prst="rect">
            <a:avLst/>
          </a:prstGeom>
          <a:solidFill>
            <a:srgbClr val="401D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                 PRACTICE MANAGER</a:t>
            </a:r>
            <a:endParaRPr lang="en-CA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C31854-4282-440A-9D0F-A77E5939452F}"/>
              </a:ext>
            </a:extLst>
          </p:cNvPr>
          <p:cNvSpPr/>
          <p:nvPr/>
        </p:nvSpPr>
        <p:spPr>
          <a:xfrm>
            <a:off x="-12268" y="7178487"/>
            <a:ext cx="12192000" cy="454213"/>
          </a:xfrm>
          <a:prstGeom prst="rect">
            <a:avLst/>
          </a:prstGeom>
          <a:solidFill>
            <a:srgbClr val="401D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Guitar Wizard – Developed by Jeison Eccel</a:t>
            </a:r>
            <a:endParaRPr lang="en-CA" sz="1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95B148-4C58-4893-81F8-750707CA0E4B}"/>
              </a:ext>
            </a:extLst>
          </p:cNvPr>
          <p:cNvSpPr/>
          <p:nvPr/>
        </p:nvSpPr>
        <p:spPr>
          <a:xfrm>
            <a:off x="-6134" y="0"/>
            <a:ext cx="856089" cy="49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LOGO</a:t>
            </a:r>
            <a:endParaRPr lang="en-CA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A9E5F4B-3FA1-4A7E-99D3-3FCCD849CD73}"/>
              </a:ext>
            </a:extLst>
          </p:cNvPr>
          <p:cNvSpPr txBox="1"/>
          <p:nvPr/>
        </p:nvSpPr>
        <p:spPr>
          <a:xfrm>
            <a:off x="140705" y="724039"/>
            <a:ext cx="76174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Technique: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966E635-6590-45A0-ABF7-D937D2A68139}"/>
              </a:ext>
            </a:extLst>
          </p:cNvPr>
          <p:cNvSpPr/>
          <p:nvPr/>
        </p:nvSpPr>
        <p:spPr>
          <a:xfrm>
            <a:off x="193903" y="957946"/>
            <a:ext cx="1303873" cy="2301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Warm-up</a:t>
            </a:r>
            <a:endParaRPr lang="en-CA" sz="10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8B62913-31DC-4996-86A2-E267C7043A97}"/>
              </a:ext>
            </a:extLst>
          </p:cNvPr>
          <p:cNvSpPr/>
          <p:nvPr/>
        </p:nvSpPr>
        <p:spPr>
          <a:xfrm>
            <a:off x="204181" y="1482017"/>
            <a:ext cx="1303873" cy="2301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#1</a:t>
            </a:r>
            <a:endParaRPr lang="en-CA" sz="1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BC57520-B56E-411E-BD76-AAA1AEF13D34}"/>
              </a:ext>
            </a:extLst>
          </p:cNvPr>
          <p:cNvSpPr txBox="1"/>
          <p:nvPr/>
        </p:nvSpPr>
        <p:spPr>
          <a:xfrm>
            <a:off x="140705" y="1251054"/>
            <a:ext cx="6431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Exercise: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6631ACE-958A-4E30-B124-654D6F2E92E8}"/>
              </a:ext>
            </a:extLst>
          </p:cNvPr>
          <p:cNvSpPr txBox="1"/>
          <p:nvPr/>
        </p:nvSpPr>
        <p:spPr>
          <a:xfrm>
            <a:off x="1746982" y="684605"/>
            <a:ext cx="50919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Warm-up - Exercise #1</a:t>
            </a:r>
            <a:endParaRPr lang="en-CA" sz="1200" b="1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1A21630-00D5-481F-A3E2-DF6BE3D30FB7}"/>
              </a:ext>
            </a:extLst>
          </p:cNvPr>
          <p:cNvSpPr/>
          <p:nvPr/>
        </p:nvSpPr>
        <p:spPr>
          <a:xfrm>
            <a:off x="5476875" y="0"/>
            <a:ext cx="6499125" cy="50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1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SCALES      CHORDS      CHORD PROGRESSION      ARPEGGIOS      LESSONS      </a:t>
            </a:r>
            <a:r>
              <a:rPr lang="en-US" sz="1100" b="1" dirty="0"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EXERCISES </a:t>
            </a:r>
            <a:r>
              <a:rPr lang="en-US" sz="11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    LOGIN</a:t>
            </a:r>
            <a:endParaRPr lang="en-CA" sz="1100" b="1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19999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2452</TotalTime>
  <Words>524</Words>
  <Application>Microsoft Office PowerPoint</Application>
  <PresentationFormat>Custom</PresentationFormat>
  <Paragraphs>303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Jeison Eccel</dc:creator>
  <cp:lastModifiedBy>Jeison Eccel</cp:lastModifiedBy>
  <cp:revision>37</cp:revision>
  <dcterms:created xsi:type="dcterms:W3CDTF">2020-04-27T18:31:24Z</dcterms:created>
  <dcterms:modified xsi:type="dcterms:W3CDTF">2020-05-19T21:40:25Z</dcterms:modified>
</cp:coreProperties>
</file>